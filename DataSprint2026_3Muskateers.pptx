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Bricolage Grotesque" charset="1" panose="020B0605040402000204"/>
      <p:regular r:id="rId13"/>
    </p:embeddedFont>
    <p:embeddedFont>
      <p:font typeface="Poppins" charset="1" panose="00000500000000000000"/>
      <p:regular r:id="rId14"/>
    </p:embeddedFont>
    <p:embeddedFont>
      <p:font typeface="Canva Sans" charset="1" panose="020B0503030501040103"/>
      <p:regular r:id="rId15"/>
    </p:embeddedFont>
    <p:embeddedFont>
      <p:font typeface="Canva Sans Bold" charset="1" panose="020B0803030501040103"/>
      <p:regular r:id="rId16"/>
    </p:embeddedFont>
    <p:embeddedFont>
      <p:font typeface="Bricolage Grotesque Bold" charset="1" panose="020B060504040200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embeddings/oleObject1.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8700" y="1028700"/>
            <a:ext cx="6219303" cy="2699444"/>
            <a:chOff x="0" y="0"/>
            <a:chExt cx="8292404" cy="3599258"/>
          </a:xfrm>
        </p:grpSpPr>
        <p:sp>
          <p:nvSpPr>
            <p:cNvPr name="TextBox 3" id="3"/>
            <p:cNvSpPr txBox="true"/>
            <p:nvPr/>
          </p:nvSpPr>
          <p:spPr>
            <a:xfrm rot="0">
              <a:off x="304088" y="200025"/>
              <a:ext cx="7988316" cy="3399233"/>
            </a:xfrm>
            <a:prstGeom prst="rect">
              <a:avLst/>
            </a:prstGeom>
          </p:spPr>
          <p:txBody>
            <a:bodyPr anchor="t" rtlCol="false" tIns="0" lIns="0" bIns="0" rIns="0">
              <a:spAutoFit/>
            </a:bodyPr>
            <a:lstStyle/>
            <a:p>
              <a:pPr algn="l">
                <a:lnSpc>
                  <a:spcPts val="9603"/>
                </a:lnSpc>
              </a:pPr>
              <a:r>
                <a:rPr lang="en-US" sz="9799" spc="-62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Problem Statement</a:t>
              </a:r>
            </a:p>
          </p:txBody>
        </p:sp>
        <p:grpSp>
          <p:nvGrpSpPr>
            <p:cNvPr name="Group 4" id="4"/>
            <p:cNvGrpSpPr/>
            <p:nvPr/>
          </p:nvGrpSpPr>
          <p:grpSpPr>
            <a:xfrm rot="0">
              <a:off x="0" y="439184"/>
              <a:ext cx="63500" cy="2720890"/>
              <a:chOff x="0" y="0"/>
              <a:chExt cx="12543" cy="537460"/>
            </a:xfrm>
          </p:grpSpPr>
          <p:sp>
            <p:nvSpPr>
              <p:cNvPr name="Freeform 5" id="5"/>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6" id="6"/>
              <p:cNvSpPr txBox="true"/>
              <p:nvPr/>
            </p:nvSpPr>
            <p:spPr>
              <a:xfrm>
                <a:off x="0" y="-38100"/>
                <a:ext cx="12543" cy="575560"/>
              </a:xfrm>
              <a:prstGeom prst="rect">
                <a:avLst/>
              </a:prstGeom>
            </p:spPr>
            <p:txBody>
              <a:bodyPr anchor="ctr" rtlCol="false" tIns="50800" lIns="50800" bIns="50800" rIns="50800"/>
              <a:lstStyle/>
              <a:p>
                <a:pPr algn="ctr">
                  <a:lnSpc>
                    <a:spcPts val="2659"/>
                  </a:lnSpc>
                  <a:spcBef>
                    <a:spcPct val="0"/>
                  </a:spcBef>
                </a:pPr>
              </a:p>
            </p:txBody>
          </p:sp>
        </p:grpSp>
      </p:grpSp>
      <p:sp>
        <p:nvSpPr>
          <p:cNvPr name="TextBox 7" id="7"/>
          <p:cNvSpPr txBox="true"/>
          <p:nvPr/>
        </p:nvSpPr>
        <p:spPr>
          <a:xfrm rot="0">
            <a:off x="1028700" y="3930559"/>
            <a:ext cx="15914262" cy="4214349"/>
          </a:xfrm>
          <a:prstGeom prst="rect">
            <a:avLst/>
          </a:prstGeom>
        </p:spPr>
        <p:txBody>
          <a:bodyPr anchor="t" rtlCol="false" tIns="0" lIns="0" bIns="0" rIns="0">
            <a:spAutoFit/>
          </a:bodyPr>
          <a:lstStyle/>
          <a:p>
            <a:pPr algn="just">
              <a:lnSpc>
                <a:spcPts val="3349"/>
              </a:lnSpc>
            </a:pPr>
            <a:r>
              <a:rPr lang="en-US" sz="2392" spc="-7">
                <a:solidFill>
                  <a:srgbClr val="000000"/>
                </a:solidFill>
                <a:latin typeface="Poppins"/>
                <a:ea typeface="Poppins"/>
                <a:cs typeface="Poppins"/>
                <a:sym typeface="Poppins"/>
              </a:rPr>
              <a:t>Over half of Kenyan adults surveyed in 2024 report their financial situation has worsened. Can we predict who is at risk  and what drives the difference?</a:t>
            </a:r>
          </a:p>
          <a:p>
            <a:pPr algn="just">
              <a:lnSpc>
                <a:spcPts val="3349"/>
              </a:lnSpc>
            </a:pPr>
          </a:p>
          <a:p>
            <a:pPr algn="just" marL="516481" indent="-258240" lvl="1">
              <a:lnSpc>
                <a:spcPts val="3349"/>
              </a:lnSpc>
              <a:buFont typeface="Arial"/>
              <a:buChar char="•"/>
            </a:pPr>
            <a:r>
              <a:rPr lang="en-US" sz="2392" spc="-7">
                <a:solidFill>
                  <a:srgbClr val="000000"/>
                </a:solidFill>
                <a:latin typeface="Poppins"/>
                <a:ea typeface="Poppins"/>
                <a:cs typeface="Poppins"/>
                <a:sym typeface="Poppins"/>
              </a:rPr>
              <a:t>Financial inclusion has expanded rapidly in Kenya (mobile money, formal banking), but expanded access hasn't translated into improved outcomes for most households.</a:t>
            </a:r>
          </a:p>
          <a:p>
            <a:pPr algn="just" marL="516481" indent="-258240" lvl="1">
              <a:lnSpc>
                <a:spcPts val="3349"/>
              </a:lnSpc>
              <a:buFont typeface="Arial"/>
              <a:buChar char="•"/>
            </a:pPr>
            <a:r>
              <a:rPr lang="en-US" sz="2392" spc="-7">
                <a:solidFill>
                  <a:srgbClr val="000000"/>
                </a:solidFill>
                <a:latin typeface="Poppins"/>
                <a:ea typeface="Poppins"/>
                <a:cs typeface="Poppins"/>
                <a:sym typeface="Poppins"/>
              </a:rPr>
              <a:t>52.6% of respondents report "Worsened" financial status, 26.9% "Stayed the same," only 20.5% "Improved."</a:t>
            </a:r>
          </a:p>
          <a:p>
            <a:pPr algn="just" marL="516481" indent="-258240" lvl="1">
              <a:lnSpc>
                <a:spcPts val="3349"/>
              </a:lnSpc>
              <a:buFont typeface="Arial"/>
              <a:buChar char="•"/>
            </a:pPr>
            <a:r>
              <a:rPr lang="en-US" sz="2392" spc="-7">
                <a:solidFill>
                  <a:srgbClr val="000000"/>
                </a:solidFill>
                <a:latin typeface="Poppins"/>
                <a:ea typeface="Poppins"/>
                <a:cs typeface="Poppins"/>
                <a:sym typeface="Poppins"/>
              </a:rPr>
              <a:t>Understanding why matters as much as predicting who. Policymakers, banks, and NGOs need to know which interventions actually move outcomes.</a:t>
            </a:r>
          </a:p>
          <a:p>
            <a:pPr algn="just">
              <a:lnSpc>
                <a:spcPts val="3349"/>
              </a:lnSpc>
            </a:pPr>
          </a:p>
        </p:txBody>
      </p:sp>
      <p:grpSp>
        <p:nvGrpSpPr>
          <p:cNvPr name="Group 8" id="8"/>
          <p:cNvGrpSpPr/>
          <p:nvPr/>
        </p:nvGrpSpPr>
        <p:grpSpPr>
          <a:xfrm rot="0">
            <a:off x="16438046" y="0"/>
            <a:ext cx="1849954" cy="1848166"/>
            <a:chOff x="0" y="0"/>
            <a:chExt cx="2466605" cy="2464222"/>
          </a:xfrm>
        </p:grpSpPr>
        <p:grpSp>
          <p:nvGrpSpPr>
            <p:cNvPr name="Group 9" id="9"/>
            <p:cNvGrpSpPr/>
            <p:nvPr/>
          </p:nvGrpSpPr>
          <p:grpSpPr>
            <a:xfrm rot="0">
              <a:off x="0" y="0"/>
              <a:ext cx="2466605" cy="2464222"/>
              <a:chOff x="0" y="0"/>
              <a:chExt cx="787566" cy="786805"/>
            </a:xfrm>
          </p:grpSpPr>
          <p:sp>
            <p:nvSpPr>
              <p:cNvPr name="Freeform 10" id="10"/>
              <p:cNvSpPr/>
              <p:nvPr/>
            </p:nvSpPr>
            <p:spPr>
              <a:xfrm flipH="false" flipV="false" rot="0">
                <a:off x="0" y="0"/>
                <a:ext cx="787566" cy="786805"/>
              </a:xfrm>
              <a:custGeom>
                <a:avLst/>
                <a:gdLst/>
                <a:ahLst/>
                <a:cxnLst/>
                <a:rect r="r" b="b" t="t" l="l"/>
                <a:pathLst>
                  <a:path h="786805" w="787566">
                    <a:moveTo>
                      <a:pt x="0" y="0"/>
                    </a:moveTo>
                    <a:lnTo>
                      <a:pt x="787566" y="0"/>
                    </a:lnTo>
                    <a:lnTo>
                      <a:pt x="787566" y="786805"/>
                    </a:lnTo>
                    <a:lnTo>
                      <a:pt x="0" y="786805"/>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1" id="11"/>
              <p:cNvSpPr txBox="true"/>
              <p:nvPr/>
            </p:nvSpPr>
            <p:spPr>
              <a:xfrm>
                <a:off x="0" y="-38100"/>
                <a:ext cx="787566" cy="824905"/>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319164" y="694049"/>
              <a:ext cx="1828278" cy="1199949"/>
            </a:xfrm>
            <a:prstGeom prst="rect">
              <a:avLst/>
            </a:prstGeom>
          </p:spPr>
          <p:txBody>
            <a:bodyPr anchor="t" rtlCol="false" tIns="0" lIns="0" bIns="0" rIns="0">
              <a:spAutoFit/>
            </a:bodyPr>
            <a:lstStyle/>
            <a:p>
              <a:pPr algn="ctr">
                <a:lnSpc>
                  <a:spcPts val="6425"/>
                </a:lnSpc>
              </a:pPr>
              <a:r>
                <a:rPr lang="en-US" sz="6557" spc="-419">
                  <a:solidFill>
                    <a:srgbClr val="FFFFFF"/>
                  </a:solidFill>
                  <a:latin typeface="Bricolage Grotesque"/>
                  <a:ea typeface="Bricolage Grotesque"/>
                  <a:cs typeface="Bricolage Grotesque"/>
                  <a:sym typeface="Bricolage Grotesque"/>
                </a:rPr>
                <a:t>01</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6219303" cy="2699444"/>
            <a:chOff x="0" y="0"/>
            <a:chExt cx="8292404" cy="3599258"/>
          </a:xfrm>
        </p:grpSpPr>
        <p:sp>
          <p:nvSpPr>
            <p:cNvPr name="TextBox 3" id="3"/>
            <p:cNvSpPr txBox="true"/>
            <p:nvPr/>
          </p:nvSpPr>
          <p:spPr>
            <a:xfrm rot="0">
              <a:off x="304088" y="200025"/>
              <a:ext cx="7988316" cy="3399233"/>
            </a:xfrm>
            <a:prstGeom prst="rect">
              <a:avLst/>
            </a:prstGeom>
          </p:spPr>
          <p:txBody>
            <a:bodyPr anchor="t" rtlCol="false" tIns="0" lIns="0" bIns="0" rIns="0">
              <a:spAutoFit/>
            </a:bodyPr>
            <a:lstStyle/>
            <a:p>
              <a:pPr algn="l">
                <a:lnSpc>
                  <a:spcPts val="9603"/>
                </a:lnSpc>
              </a:pPr>
              <a:r>
                <a:rPr lang="en-US" sz="9799" spc="-62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Dataset Overview</a:t>
              </a:r>
            </a:p>
          </p:txBody>
        </p:sp>
        <p:grpSp>
          <p:nvGrpSpPr>
            <p:cNvPr name="Group 4" id="4"/>
            <p:cNvGrpSpPr/>
            <p:nvPr/>
          </p:nvGrpSpPr>
          <p:grpSpPr>
            <a:xfrm rot="0">
              <a:off x="0" y="439184"/>
              <a:ext cx="63500" cy="2720890"/>
              <a:chOff x="0" y="0"/>
              <a:chExt cx="12543" cy="537460"/>
            </a:xfrm>
          </p:grpSpPr>
          <p:sp>
            <p:nvSpPr>
              <p:cNvPr name="Freeform 5" id="5"/>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6" id="6"/>
              <p:cNvSpPr txBox="true"/>
              <p:nvPr/>
            </p:nvSpPr>
            <p:spPr>
              <a:xfrm>
                <a:off x="0" y="-38100"/>
                <a:ext cx="12543" cy="575560"/>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7" id="7"/>
          <p:cNvGrpSpPr/>
          <p:nvPr/>
        </p:nvGrpSpPr>
        <p:grpSpPr>
          <a:xfrm rot="0">
            <a:off x="16438046" y="0"/>
            <a:ext cx="1849954" cy="1848166"/>
            <a:chOff x="0" y="0"/>
            <a:chExt cx="2466605" cy="2464222"/>
          </a:xfrm>
        </p:grpSpPr>
        <p:grpSp>
          <p:nvGrpSpPr>
            <p:cNvPr name="Group 8" id="8"/>
            <p:cNvGrpSpPr/>
            <p:nvPr/>
          </p:nvGrpSpPr>
          <p:grpSpPr>
            <a:xfrm rot="0">
              <a:off x="0" y="0"/>
              <a:ext cx="2466605" cy="2464222"/>
              <a:chOff x="0" y="0"/>
              <a:chExt cx="787566" cy="786805"/>
            </a:xfrm>
          </p:grpSpPr>
          <p:sp>
            <p:nvSpPr>
              <p:cNvPr name="Freeform 9" id="9"/>
              <p:cNvSpPr/>
              <p:nvPr/>
            </p:nvSpPr>
            <p:spPr>
              <a:xfrm flipH="false" flipV="false" rot="0">
                <a:off x="0" y="0"/>
                <a:ext cx="787566" cy="786805"/>
              </a:xfrm>
              <a:custGeom>
                <a:avLst/>
                <a:gdLst/>
                <a:ahLst/>
                <a:cxnLst/>
                <a:rect r="r" b="b" t="t" l="l"/>
                <a:pathLst>
                  <a:path h="786805" w="787566">
                    <a:moveTo>
                      <a:pt x="0" y="0"/>
                    </a:moveTo>
                    <a:lnTo>
                      <a:pt x="787566" y="0"/>
                    </a:lnTo>
                    <a:lnTo>
                      <a:pt x="787566" y="786805"/>
                    </a:lnTo>
                    <a:lnTo>
                      <a:pt x="0" y="786805"/>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0" id="10"/>
              <p:cNvSpPr txBox="true"/>
              <p:nvPr/>
            </p:nvSpPr>
            <p:spPr>
              <a:xfrm>
                <a:off x="0" y="-38100"/>
                <a:ext cx="787566" cy="824905"/>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19164" y="694049"/>
              <a:ext cx="1828278" cy="1199949"/>
            </a:xfrm>
            <a:prstGeom prst="rect">
              <a:avLst/>
            </a:prstGeom>
          </p:spPr>
          <p:txBody>
            <a:bodyPr anchor="t" rtlCol="false" tIns="0" lIns="0" bIns="0" rIns="0">
              <a:spAutoFit/>
            </a:bodyPr>
            <a:lstStyle/>
            <a:p>
              <a:pPr algn="ctr">
                <a:lnSpc>
                  <a:spcPts val="6425"/>
                </a:lnSpc>
              </a:pPr>
              <a:r>
                <a:rPr lang="en-US" sz="6557" spc="-419">
                  <a:solidFill>
                    <a:srgbClr val="FFFFFF"/>
                  </a:solidFill>
                  <a:latin typeface="Bricolage Grotesque"/>
                  <a:ea typeface="Bricolage Grotesque"/>
                  <a:cs typeface="Bricolage Grotesque"/>
                  <a:sym typeface="Bricolage Grotesque"/>
                </a:rPr>
                <a:t>02</a:t>
              </a:r>
            </a:p>
          </p:txBody>
        </p:sp>
      </p:grpSp>
      <p:pic>
        <p:nvPicPr>
          <p:cNvPr name="Picture 12" id="12"/>
          <p:cNvPicPr>
            <a:picLocks noChangeAspect="true"/>
          </p:cNvPicPr>
          <p:nvPr/>
        </p:nvPicPr>
        <p:blipFill>
          <a:blip r:embed="rId2"/>
          <a:stretch>
            <a:fillRect/>
          </a:stretch>
        </p:blipFill>
        <p:spPr>
          <a:xfrm rot="0">
            <a:off x="1122840" y="3923224"/>
            <a:ext cx="1412280" cy="1034784"/>
          </a:xfrm>
          <a:prstGeom prst="rect">
            <a:avLst/>
          </a:prstGeom>
        </p:spPr>
      </p:pic>
      <p:sp>
        <p:nvSpPr>
          <p:cNvPr name="Freeform 13" id="13"/>
          <p:cNvSpPr/>
          <p:nvPr/>
        </p:nvSpPr>
        <p:spPr>
          <a:xfrm flipH="false" flipV="false" rot="0">
            <a:off x="1240530" y="5397213"/>
            <a:ext cx="1096929" cy="1072996"/>
          </a:xfrm>
          <a:custGeom>
            <a:avLst/>
            <a:gdLst/>
            <a:ahLst/>
            <a:cxnLst/>
            <a:rect r="r" b="b" t="t" l="l"/>
            <a:pathLst>
              <a:path h="1072996" w="1096929">
                <a:moveTo>
                  <a:pt x="0" y="0"/>
                </a:moveTo>
                <a:lnTo>
                  <a:pt x="1096929" y="0"/>
                </a:lnTo>
                <a:lnTo>
                  <a:pt x="1096929" y="1072996"/>
                </a:lnTo>
                <a:lnTo>
                  <a:pt x="0" y="10729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8270083" y="2449341"/>
            <a:ext cx="9554097" cy="6968741"/>
          </a:xfrm>
          <a:custGeom>
            <a:avLst/>
            <a:gdLst/>
            <a:ahLst/>
            <a:cxnLst/>
            <a:rect r="r" b="b" t="t" l="l"/>
            <a:pathLst>
              <a:path h="6968741" w="9554097">
                <a:moveTo>
                  <a:pt x="0" y="0"/>
                </a:moveTo>
                <a:lnTo>
                  <a:pt x="9554097" y="0"/>
                </a:lnTo>
                <a:lnTo>
                  <a:pt x="9554097" y="6968740"/>
                </a:lnTo>
                <a:lnTo>
                  <a:pt x="0" y="6968740"/>
                </a:lnTo>
                <a:lnTo>
                  <a:pt x="0" y="0"/>
                </a:lnTo>
                <a:close/>
              </a:path>
            </a:pathLst>
          </a:custGeom>
          <a:blipFill>
            <a:blip r:embed="rId5"/>
            <a:stretch>
              <a:fillRect l="-1780" t="0" r="-1780" b="0"/>
            </a:stretch>
          </a:blipFill>
        </p:spPr>
      </p:sp>
      <p:sp>
        <p:nvSpPr>
          <p:cNvPr name="TextBox 15" id="15"/>
          <p:cNvSpPr txBox="true"/>
          <p:nvPr/>
        </p:nvSpPr>
        <p:spPr>
          <a:xfrm rot="0">
            <a:off x="2796233" y="4216748"/>
            <a:ext cx="4163120" cy="1180465"/>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20,871 Respondents</a:t>
            </a:r>
          </a:p>
          <a:p>
            <a:pPr algn="ctr">
              <a:lnSpc>
                <a:spcPts val="4759"/>
              </a:lnSpc>
            </a:pPr>
          </a:p>
        </p:txBody>
      </p:sp>
      <p:sp>
        <p:nvSpPr>
          <p:cNvPr name="TextBox 16" id="16"/>
          <p:cNvSpPr txBox="true"/>
          <p:nvPr/>
        </p:nvSpPr>
        <p:spPr>
          <a:xfrm rot="0">
            <a:off x="2796233" y="5610178"/>
            <a:ext cx="2514997"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28 Variables</a:t>
            </a:r>
          </a:p>
        </p:txBody>
      </p:sp>
      <p:sp>
        <p:nvSpPr>
          <p:cNvPr name="TextBox 17" id="17"/>
          <p:cNvSpPr txBox="true"/>
          <p:nvPr/>
        </p:nvSpPr>
        <p:spPr>
          <a:xfrm rot="0">
            <a:off x="1240530" y="6717859"/>
            <a:ext cx="6701830" cy="29806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Feature Categories:</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Demographics</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Livelihood</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Mobile &amp; Digital</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Financial Behaviour &amp; Health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6219303" cy="2699444"/>
            <a:chOff x="0" y="0"/>
            <a:chExt cx="8292404" cy="3599258"/>
          </a:xfrm>
        </p:grpSpPr>
        <p:sp>
          <p:nvSpPr>
            <p:cNvPr name="TextBox 3" id="3"/>
            <p:cNvSpPr txBox="true"/>
            <p:nvPr/>
          </p:nvSpPr>
          <p:spPr>
            <a:xfrm rot="0">
              <a:off x="304088" y="200025"/>
              <a:ext cx="7988316" cy="3399233"/>
            </a:xfrm>
            <a:prstGeom prst="rect">
              <a:avLst/>
            </a:prstGeom>
          </p:spPr>
          <p:txBody>
            <a:bodyPr anchor="t" rtlCol="false" tIns="0" lIns="0" bIns="0" rIns="0">
              <a:spAutoFit/>
            </a:bodyPr>
            <a:lstStyle/>
            <a:p>
              <a:pPr algn="l">
                <a:lnSpc>
                  <a:spcPts val="9603"/>
                </a:lnSpc>
              </a:pPr>
              <a:r>
                <a:rPr lang="en-US" sz="9799" spc="-62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Key EDA Finding</a:t>
              </a:r>
            </a:p>
          </p:txBody>
        </p:sp>
        <p:grpSp>
          <p:nvGrpSpPr>
            <p:cNvPr name="Group 4" id="4"/>
            <p:cNvGrpSpPr/>
            <p:nvPr/>
          </p:nvGrpSpPr>
          <p:grpSpPr>
            <a:xfrm rot="0">
              <a:off x="0" y="439184"/>
              <a:ext cx="63500" cy="2720890"/>
              <a:chOff x="0" y="0"/>
              <a:chExt cx="12543" cy="537460"/>
            </a:xfrm>
          </p:grpSpPr>
          <p:sp>
            <p:nvSpPr>
              <p:cNvPr name="Freeform 5" id="5"/>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6" id="6"/>
              <p:cNvSpPr txBox="true"/>
              <p:nvPr/>
            </p:nvSpPr>
            <p:spPr>
              <a:xfrm>
                <a:off x="0" y="-38100"/>
                <a:ext cx="12543" cy="575560"/>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7" id="7"/>
          <p:cNvGrpSpPr/>
          <p:nvPr/>
        </p:nvGrpSpPr>
        <p:grpSpPr>
          <a:xfrm rot="0">
            <a:off x="16438046" y="0"/>
            <a:ext cx="1849954" cy="1848166"/>
            <a:chOff x="0" y="0"/>
            <a:chExt cx="2466605" cy="2464222"/>
          </a:xfrm>
        </p:grpSpPr>
        <p:grpSp>
          <p:nvGrpSpPr>
            <p:cNvPr name="Group 8" id="8"/>
            <p:cNvGrpSpPr/>
            <p:nvPr/>
          </p:nvGrpSpPr>
          <p:grpSpPr>
            <a:xfrm rot="0">
              <a:off x="0" y="0"/>
              <a:ext cx="2466605" cy="2464222"/>
              <a:chOff x="0" y="0"/>
              <a:chExt cx="787566" cy="786805"/>
            </a:xfrm>
          </p:grpSpPr>
          <p:sp>
            <p:nvSpPr>
              <p:cNvPr name="Freeform 9" id="9"/>
              <p:cNvSpPr/>
              <p:nvPr/>
            </p:nvSpPr>
            <p:spPr>
              <a:xfrm flipH="false" flipV="false" rot="0">
                <a:off x="0" y="0"/>
                <a:ext cx="787566" cy="786805"/>
              </a:xfrm>
              <a:custGeom>
                <a:avLst/>
                <a:gdLst/>
                <a:ahLst/>
                <a:cxnLst/>
                <a:rect r="r" b="b" t="t" l="l"/>
                <a:pathLst>
                  <a:path h="786805" w="787566">
                    <a:moveTo>
                      <a:pt x="0" y="0"/>
                    </a:moveTo>
                    <a:lnTo>
                      <a:pt x="787566" y="0"/>
                    </a:lnTo>
                    <a:lnTo>
                      <a:pt x="787566" y="786805"/>
                    </a:lnTo>
                    <a:lnTo>
                      <a:pt x="0" y="786805"/>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0" id="10"/>
              <p:cNvSpPr txBox="true"/>
              <p:nvPr/>
            </p:nvSpPr>
            <p:spPr>
              <a:xfrm>
                <a:off x="0" y="-38100"/>
                <a:ext cx="787566" cy="824905"/>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19164" y="694049"/>
              <a:ext cx="1828278" cy="1199949"/>
            </a:xfrm>
            <a:prstGeom prst="rect">
              <a:avLst/>
            </a:prstGeom>
          </p:spPr>
          <p:txBody>
            <a:bodyPr anchor="t" rtlCol="false" tIns="0" lIns="0" bIns="0" rIns="0">
              <a:spAutoFit/>
            </a:bodyPr>
            <a:lstStyle/>
            <a:p>
              <a:pPr algn="ctr">
                <a:lnSpc>
                  <a:spcPts val="6425"/>
                </a:lnSpc>
              </a:pPr>
              <a:r>
                <a:rPr lang="en-US" sz="6557" spc="-419">
                  <a:solidFill>
                    <a:srgbClr val="FFFFFF"/>
                  </a:solidFill>
                  <a:latin typeface="Bricolage Grotesque"/>
                  <a:ea typeface="Bricolage Grotesque"/>
                  <a:cs typeface="Bricolage Grotesque"/>
                  <a:sym typeface="Bricolage Grotesque"/>
                </a:rPr>
                <a:t>03</a:t>
              </a:r>
            </a:p>
          </p:txBody>
        </p:sp>
      </p:grpSp>
      <p:sp>
        <p:nvSpPr>
          <p:cNvPr name="Freeform 12" id="12"/>
          <p:cNvSpPr/>
          <p:nvPr/>
        </p:nvSpPr>
        <p:spPr>
          <a:xfrm flipH="false" flipV="false" rot="0">
            <a:off x="8214722" y="3728144"/>
            <a:ext cx="10073278" cy="6134855"/>
          </a:xfrm>
          <a:custGeom>
            <a:avLst/>
            <a:gdLst/>
            <a:ahLst/>
            <a:cxnLst/>
            <a:rect r="r" b="b" t="t" l="l"/>
            <a:pathLst>
              <a:path h="6134855" w="10073278">
                <a:moveTo>
                  <a:pt x="0" y="0"/>
                </a:moveTo>
                <a:lnTo>
                  <a:pt x="10073278" y="0"/>
                </a:lnTo>
                <a:lnTo>
                  <a:pt x="10073278" y="6134854"/>
                </a:lnTo>
                <a:lnTo>
                  <a:pt x="0" y="6134854"/>
                </a:lnTo>
                <a:lnTo>
                  <a:pt x="0" y="0"/>
                </a:lnTo>
                <a:close/>
              </a:path>
            </a:pathLst>
          </a:custGeom>
          <a:blipFill>
            <a:blip r:embed="rId2"/>
            <a:stretch>
              <a:fillRect l="-4091" t="0" r="-9950" b="0"/>
            </a:stretch>
          </a:blipFill>
        </p:spPr>
      </p:sp>
      <p:sp>
        <p:nvSpPr>
          <p:cNvPr name="TextBox 13" id="13"/>
          <p:cNvSpPr txBox="true"/>
          <p:nvPr/>
        </p:nvSpPr>
        <p:spPr>
          <a:xfrm rot="0">
            <a:off x="492474" y="3850640"/>
            <a:ext cx="7935157" cy="5407660"/>
          </a:xfrm>
          <a:prstGeom prst="rect">
            <a:avLst/>
          </a:prstGeom>
        </p:spPr>
        <p:txBody>
          <a:bodyPr anchor="t" rtlCol="false" tIns="0" lIns="0" bIns="0" rIns="0">
            <a:spAutoFit/>
          </a:bodyPr>
          <a:lstStyle/>
          <a:p>
            <a:pPr algn="ctr">
              <a:lnSpc>
                <a:spcPts val="4340"/>
              </a:lnSpc>
            </a:pPr>
            <a:r>
              <a:rPr lang="en-US" sz="3100" b="true">
                <a:solidFill>
                  <a:srgbClr val="000000"/>
                </a:solidFill>
                <a:latin typeface="Canva Sans Bold"/>
                <a:ea typeface="Canva Sans Bold"/>
                <a:cs typeface="Canva Sans Bold"/>
                <a:sym typeface="Canva Sans Bold"/>
              </a:rPr>
              <a:t>Key Finding</a:t>
            </a:r>
            <a:r>
              <a:rPr lang="en-US" sz="3100">
                <a:solidFill>
                  <a:srgbClr val="000000"/>
                </a:solidFill>
                <a:latin typeface="Canva Sans"/>
                <a:ea typeface="Canva Sans"/>
                <a:cs typeface="Canva Sans"/>
                <a:sym typeface="Canva Sans"/>
              </a:rPr>
              <a:t>: Financial resilience appears to be a stronger predictor of financial status than financial access.</a:t>
            </a:r>
          </a:p>
          <a:p>
            <a:pPr algn="ctr">
              <a:lnSpc>
                <a:spcPts val="4340"/>
              </a:lnSpc>
            </a:pPr>
            <a:r>
              <a:rPr lang="en-US" sz="3100">
                <a:solidFill>
                  <a:srgbClr val="000000"/>
                </a:solidFill>
                <a:latin typeface="Canva Sans"/>
                <a:ea typeface="Canva Sans"/>
                <a:cs typeface="Canva Sans"/>
                <a:sym typeface="Canva Sans"/>
              </a:rPr>
              <a:t>Households with greater financial resilience were more likely to report stable or improving financial conditions, suggesting that the ability to withstand shocks may be more important than access to financial services alone.</a:t>
            </a:r>
          </a:p>
          <a:p>
            <a:pPr algn="ctr">
              <a:lnSpc>
                <a:spcPts val="4340"/>
              </a:lnSpc>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8700" y="608271"/>
            <a:ext cx="6219303" cy="2699444"/>
            <a:chOff x="0" y="0"/>
            <a:chExt cx="8292404" cy="3599258"/>
          </a:xfrm>
        </p:grpSpPr>
        <p:sp>
          <p:nvSpPr>
            <p:cNvPr name="TextBox 3" id="3"/>
            <p:cNvSpPr txBox="true"/>
            <p:nvPr/>
          </p:nvSpPr>
          <p:spPr>
            <a:xfrm rot="0">
              <a:off x="304088" y="200025"/>
              <a:ext cx="7988316" cy="3399233"/>
            </a:xfrm>
            <a:prstGeom prst="rect">
              <a:avLst/>
            </a:prstGeom>
          </p:spPr>
          <p:txBody>
            <a:bodyPr anchor="t" rtlCol="false" tIns="0" lIns="0" bIns="0" rIns="0">
              <a:spAutoFit/>
            </a:bodyPr>
            <a:lstStyle/>
            <a:p>
              <a:pPr algn="l">
                <a:lnSpc>
                  <a:spcPts val="9603"/>
                </a:lnSpc>
              </a:pPr>
              <a:r>
                <a:rPr lang="en-US" sz="9799" spc="-62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Modelling Approach</a:t>
              </a:r>
            </a:p>
          </p:txBody>
        </p:sp>
        <p:grpSp>
          <p:nvGrpSpPr>
            <p:cNvPr name="Group 4" id="4"/>
            <p:cNvGrpSpPr/>
            <p:nvPr/>
          </p:nvGrpSpPr>
          <p:grpSpPr>
            <a:xfrm rot="0">
              <a:off x="0" y="439184"/>
              <a:ext cx="63500" cy="2720890"/>
              <a:chOff x="0" y="0"/>
              <a:chExt cx="12543" cy="537460"/>
            </a:xfrm>
          </p:grpSpPr>
          <p:sp>
            <p:nvSpPr>
              <p:cNvPr name="Freeform 5" id="5"/>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6" id="6"/>
              <p:cNvSpPr txBox="true"/>
              <p:nvPr/>
            </p:nvSpPr>
            <p:spPr>
              <a:xfrm>
                <a:off x="0" y="-38100"/>
                <a:ext cx="12543" cy="575560"/>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7" id="7"/>
          <p:cNvGrpSpPr/>
          <p:nvPr/>
        </p:nvGrpSpPr>
        <p:grpSpPr>
          <a:xfrm rot="0">
            <a:off x="16438046" y="0"/>
            <a:ext cx="1849954" cy="1848166"/>
            <a:chOff x="0" y="0"/>
            <a:chExt cx="2466605" cy="2464222"/>
          </a:xfrm>
        </p:grpSpPr>
        <p:grpSp>
          <p:nvGrpSpPr>
            <p:cNvPr name="Group 8" id="8"/>
            <p:cNvGrpSpPr/>
            <p:nvPr/>
          </p:nvGrpSpPr>
          <p:grpSpPr>
            <a:xfrm rot="0">
              <a:off x="0" y="0"/>
              <a:ext cx="2466605" cy="2464222"/>
              <a:chOff x="0" y="0"/>
              <a:chExt cx="787566" cy="786805"/>
            </a:xfrm>
          </p:grpSpPr>
          <p:sp>
            <p:nvSpPr>
              <p:cNvPr name="Freeform 9" id="9"/>
              <p:cNvSpPr/>
              <p:nvPr/>
            </p:nvSpPr>
            <p:spPr>
              <a:xfrm flipH="false" flipV="false" rot="0">
                <a:off x="0" y="0"/>
                <a:ext cx="787566" cy="786805"/>
              </a:xfrm>
              <a:custGeom>
                <a:avLst/>
                <a:gdLst/>
                <a:ahLst/>
                <a:cxnLst/>
                <a:rect r="r" b="b" t="t" l="l"/>
                <a:pathLst>
                  <a:path h="786805" w="787566">
                    <a:moveTo>
                      <a:pt x="0" y="0"/>
                    </a:moveTo>
                    <a:lnTo>
                      <a:pt x="787566" y="0"/>
                    </a:lnTo>
                    <a:lnTo>
                      <a:pt x="787566" y="786805"/>
                    </a:lnTo>
                    <a:lnTo>
                      <a:pt x="0" y="786805"/>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0" id="10"/>
              <p:cNvSpPr txBox="true"/>
              <p:nvPr/>
            </p:nvSpPr>
            <p:spPr>
              <a:xfrm>
                <a:off x="0" y="-38100"/>
                <a:ext cx="787566" cy="824905"/>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19164" y="694049"/>
              <a:ext cx="1828278" cy="1199949"/>
            </a:xfrm>
            <a:prstGeom prst="rect">
              <a:avLst/>
            </a:prstGeom>
          </p:spPr>
          <p:txBody>
            <a:bodyPr anchor="t" rtlCol="false" tIns="0" lIns="0" bIns="0" rIns="0">
              <a:spAutoFit/>
            </a:bodyPr>
            <a:lstStyle/>
            <a:p>
              <a:pPr algn="ctr">
                <a:lnSpc>
                  <a:spcPts val="6425"/>
                </a:lnSpc>
              </a:pPr>
              <a:r>
                <a:rPr lang="en-US" sz="6557" spc="-419">
                  <a:solidFill>
                    <a:srgbClr val="FFFFFF"/>
                  </a:solidFill>
                  <a:latin typeface="Bricolage Grotesque"/>
                  <a:ea typeface="Bricolage Grotesque"/>
                  <a:cs typeface="Bricolage Grotesque"/>
                  <a:sym typeface="Bricolage Grotesque"/>
                </a:rPr>
                <a:t>04</a:t>
              </a:r>
            </a:p>
          </p:txBody>
        </p:sp>
      </p:grpSp>
      <p:sp>
        <p:nvSpPr>
          <p:cNvPr name="TextBox 12" id="12"/>
          <p:cNvSpPr txBox="true"/>
          <p:nvPr/>
        </p:nvSpPr>
        <p:spPr>
          <a:xfrm rot="0">
            <a:off x="718578" y="3250565"/>
            <a:ext cx="8425422" cy="7036435"/>
          </a:xfrm>
          <a:prstGeom prst="rect">
            <a:avLst/>
          </a:prstGeom>
        </p:spPr>
        <p:txBody>
          <a:bodyPr anchor="t" rtlCol="false" tIns="0" lIns="0" bIns="0" rIns="0">
            <a:spAutoFit/>
          </a:bodyPr>
          <a:lstStyle/>
          <a:p>
            <a:pPr algn="just">
              <a:lnSpc>
                <a:spcPts val="4340"/>
              </a:lnSpc>
            </a:pPr>
            <a:r>
              <a:rPr lang="en-US" sz="3100" b="true">
                <a:solidFill>
                  <a:srgbClr val="000000"/>
                </a:solidFill>
                <a:latin typeface="Canva Sans Bold"/>
                <a:ea typeface="Canva Sans Bold"/>
                <a:cs typeface="Canva Sans Bold"/>
                <a:sym typeface="Canva Sans Bold"/>
              </a:rPr>
              <a:t>Objective:</a:t>
            </a:r>
          </a:p>
          <a:p>
            <a:pPr algn="just">
              <a:lnSpc>
                <a:spcPts val="4340"/>
              </a:lnSpc>
            </a:pPr>
            <a:r>
              <a:rPr lang="en-US" sz="3100">
                <a:solidFill>
                  <a:srgbClr val="000000"/>
                </a:solidFill>
                <a:latin typeface="Canva Sans"/>
                <a:ea typeface="Canva Sans"/>
                <a:cs typeface="Canva Sans"/>
                <a:sym typeface="Canva Sans"/>
              </a:rPr>
              <a:t>Predict whether a respondent's financial status Improved, Stayed the Same, or Worsened.</a:t>
            </a:r>
          </a:p>
          <a:p>
            <a:pPr algn="just">
              <a:lnSpc>
                <a:spcPts val="4340"/>
              </a:lnSpc>
            </a:pPr>
            <a:r>
              <a:rPr lang="en-US" sz="3100" b="true">
                <a:solidFill>
                  <a:srgbClr val="000000"/>
                </a:solidFill>
                <a:latin typeface="Canva Sans Bold"/>
                <a:ea typeface="Canva Sans Bold"/>
                <a:cs typeface="Canva Sans Bold"/>
                <a:sym typeface="Canva Sans Bold"/>
              </a:rPr>
              <a:t>Models Evaluated: </a:t>
            </a:r>
            <a:r>
              <a:rPr lang="en-US" sz="3100">
                <a:solidFill>
                  <a:srgbClr val="000000"/>
                </a:solidFill>
                <a:latin typeface="Canva Sans"/>
                <a:ea typeface="Canva Sans"/>
                <a:cs typeface="Canva Sans"/>
                <a:sym typeface="Canva Sans"/>
              </a:rPr>
              <a:t>Logistic Regression (baseline), Random Forest, XGBoost</a:t>
            </a:r>
          </a:p>
          <a:p>
            <a:pPr algn="just">
              <a:lnSpc>
                <a:spcPts val="4340"/>
              </a:lnSpc>
            </a:pPr>
            <a:r>
              <a:rPr lang="en-US" sz="3100" b="true">
                <a:solidFill>
                  <a:srgbClr val="000000"/>
                </a:solidFill>
                <a:latin typeface="Canva Sans Bold"/>
                <a:ea typeface="Canva Sans Bold"/>
                <a:cs typeface="Canva Sans Bold"/>
                <a:sym typeface="Canva Sans Bold"/>
              </a:rPr>
              <a:t>Preprocessing: </a:t>
            </a:r>
            <a:r>
              <a:rPr lang="en-US" sz="3100">
                <a:solidFill>
                  <a:srgbClr val="000000"/>
                </a:solidFill>
                <a:latin typeface="Canva Sans"/>
                <a:ea typeface="Canva Sans"/>
                <a:cs typeface="Canva Sans"/>
                <a:sym typeface="Canva Sans"/>
              </a:rPr>
              <a:t>Filled missing values in barriers_bank with "No barrier".</a:t>
            </a:r>
          </a:p>
          <a:p>
            <a:pPr algn="just">
              <a:lnSpc>
                <a:spcPts val="4340"/>
              </a:lnSpc>
            </a:pPr>
            <a:r>
              <a:rPr lang="en-US" sz="3100">
                <a:solidFill>
                  <a:srgbClr val="000000"/>
                </a:solidFill>
                <a:latin typeface="Canva Sans"/>
                <a:ea typeface="Canva Sans"/>
                <a:cs typeface="Canva Sans"/>
                <a:sym typeface="Canva Sans"/>
              </a:rPr>
              <a:t>Created:</a:t>
            </a:r>
          </a:p>
          <a:p>
            <a:pPr algn="just" marL="1338582" indent="-446194" lvl="2">
              <a:lnSpc>
                <a:spcPts val="4340"/>
              </a:lnSpc>
              <a:buFont typeface="Arial"/>
              <a:buChar char="⚬"/>
            </a:pPr>
            <a:r>
              <a:rPr lang="en-US" sz="3100">
                <a:solidFill>
                  <a:srgbClr val="000000"/>
                </a:solidFill>
                <a:latin typeface="Canva Sans"/>
                <a:ea typeface="Canva Sans"/>
                <a:cs typeface="Canva Sans"/>
                <a:sym typeface="Canva Sans"/>
              </a:rPr>
              <a:t>resilience_score</a:t>
            </a:r>
          </a:p>
          <a:p>
            <a:pPr algn="just" marL="1338582" indent="-446194" lvl="2">
              <a:lnSpc>
                <a:spcPts val="4340"/>
              </a:lnSpc>
              <a:buFont typeface="Arial"/>
              <a:buChar char="⚬"/>
            </a:pPr>
            <a:r>
              <a:rPr lang="en-US" sz="3100">
                <a:solidFill>
                  <a:srgbClr val="000000"/>
                </a:solidFill>
                <a:latin typeface="Canva Sans"/>
                <a:ea typeface="Canva Sans"/>
                <a:cs typeface="Canva Sans"/>
                <a:sym typeface="Canva Sans"/>
              </a:rPr>
              <a:t>financial_access_score</a:t>
            </a:r>
          </a:p>
          <a:p>
            <a:pPr algn="just" marL="1338582" indent="-446194" lvl="2">
              <a:lnSpc>
                <a:spcPts val="4340"/>
              </a:lnSpc>
              <a:buFont typeface="Arial"/>
              <a:buChar char="⚬"/>
            </a:pPr>
            <a:r>
              <a:rPr lang="en-US" sz="3100">
                <a:solidFill>
                  <a:srgbClr val="000000"/>
                </a:solidFill>
                <a:latin typeface="Canva Sans"/>
                <a:ea typeface="Canva Sans"/>
                <a:cs typeface="Canva Sans"/>
                <a:sym typeface="Canva Sans"/>
              </a:rPr>
              <a:t>income_band</a:t>
            </a:r>
          </a:p>
          <a:p>
            <a:pPr algn="just">
              <a:lnSpc>
                <a:spcPts val="4340"/>
              </a:lnSpc>
            </a:pPr>
          </a:p>
        </p:txBody>
      </p:sp>
      <p:sp>
        <p:nvSpPr>
          <p:cNvPr name="TextBox 13" id="13"/>
          <p:cNvSpPr txBox="true"/>
          <p:nvPr/>
        </p:nvSpPr>
        <p:spPr>
          <a:xfrm rot="0">
            <a:off x="9642467" y="3250565"/>
            <a:ext cx="8425422" cy="4864735"/>
          </a:xfrm>
          <a:prstGeom prst="rect">
            <a:avLst/>
          </a:prstGeom>
        </p:spPr>
        <p:txBody>
          <a:bodyPr anchor="t" rtlCol="false" tIns="0" lIns="0" bIns="0" rIns="0">
            <a:spAutoFit/>
          </a:bodyPr>
          <a:lstStyle/>
          <a:p>
            <a:pPr algn="just">
              <a:lnSpc>
                <a:spcPts val="4340"/>
              </a:lnSpc>
            </a:pPr>
            <a:r>
              <a:rPr lang="en-US" sz="3100" b="true">
                <a:solidFill>
                  <a:srgbClr val="000000"/>
                </a:solidFill>
                <a:latin typeface="Canva Sans Bold"/>
                <a:ea typeface="Canva Sans Bold"/>
                <a:cs typeface="Canva Sans Bold"/>
                <a:sym typeface="Canva Sans Bold"/>
              </a:rPr>
              <a:t>Class Imbalance:</a:t>
            </a:r>
          </a:p>
          <a:p>
            <a:pPr algn="just">
              <a:lnSpc>
                <a:spcPts val="4340"/>
              </a:lnSpc>
            </a:pPr>
            <a:r>
              <a:rPr lang="en-US" sz="3100">
                <a:solidFill>
                  <a:srgbClr val="000000"/>
                </a:solidFill>
                <a:latin typeface="Canva Sans"/>
                <a:ea typeface="Canva Sans"/>
                <a:cs typeface="Canva Sans"/>
                <a:sym typeface="Canva Sans"/>
              </a:rPr>
              <a:t>The target variable was imbalanced:</a:t>
            </a:r>
          </a:p>
          <a:p>
            <a:pPr algn="just" marL="669291" indent="-334646" lvl="1">
              <a:lnSpc>
                <a:spcPts val="4340"/>
              </a:lnSpc>
              <a:buFont typeface="Arial"/>
              <a:buChar char="•"/>
            </a:pPr>
            <a:r>
              <a:rPr lang="en-US" sz="3100">
                <a:solidFill>
                  <a:srgbClr val="000000"/>
                </a:solidFill>
                <a:latin typeface="Canva Sans"/>
                <a:ea typeface="Canva Sans"/>
                <a:cs typeface="Canva Sans"/>
                <a:sym typeface="Canva Sans"/>
              </a:rPr>
              <a:t>Worsened: 52.6%</a:t>
            </a:r>
          </a:p>
          <a:p>
            <a:pPr algn="just" marL="669291" indent="-334646" lvl="1">
              <a:lnSpc>
                <a:spcPts val="4340"/>
              </a:lnSpc>
              <a:buFont typeface="Arial"/>
              <a:buChar char="•"/>
            </a:pPr>
            <a:r>
              <a:rPr lang="en-US" sz="3100">
                <a:solidFill>
                  <a:srgbClr val="000000"/>
                </a:solidFill>
                <a:latin typeface="Canva Sans"/>
                <a:ea typeface="Canva Sans"/>
                <a:cs typeface="Canva Sans"/>
                <a:sym typeface="Canva Sans"/>
              </a:rPr>
              <a:t>Stayed the Same: 26.9%</a:t>
            </a:r>
          </a:p>
          <a:p>
            <a:pPr algn="just" marL="669291" indent="-334646" lvl="1">
              <a:lnSpc>
                <a:spcPts val="4340"/>
              </a:lnSpc>
              <a:buFont typeface="Arial"/>
              <a:buChar char="•"/>
            </a:pPr>
            <a:r>
              <a:rPr lang="en-US" sz="3100">
                <a:solidFill>
                  <a:srgbClr val="000000"/>
                </a:solidFill>
                <a:latin typeface="Canva Sans"/>
                <a:ea typeface="Canva Sans"/>
                <a:cs typeface="Canva Sans"/>
                <a:sym typeface="Canva Sans"/>
              </a:rPr>
              <a:t>Improved: 20.5%</a:t>
            </a:r>
          </a:p>
          <a:p>
            <a:pPr algn="just">
              <a:lnSpc>
                <a:spcPts val="4340"/>
              </a:lnSpc>
            </a:pPr>
            <a:r>
              <a:rPr lang="en-US" sz="3100">
                <a:solidFill>
                  <a:srgbClr val="000000"/>
                </a:solidFill>
                <a:latin typeface="Canva Sans"/>
                <a:ea typeface="Canva Sans"/>
                <a:cs typeface="Canva Sans"/>
                <a:sym typeface="Canva Sans"/>
              </a:rPr>
              <a:t>To account for this, model performance was evaluated using Weighted F1-score rather than accuracy.</a:t>
            </a:r>
          </a:p>
          <a:p>
            <a:pPr algn="just">
              <a:lnSpc>
                <a:spcPts val="434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18578" y="383912"/>
            <a:ext cx="11343423" cy="2436673"/>
            <a:chOff x="0" y="0"/>
            <a:chExt cx="15124564" cy="3248897"/>
          </a:xfrm>
        </p:grpSpPr>
        <p:sp>
          <p:nvSpPr>
            <p:cNvPr name="TextBox 3" id="3"/>
            <p:cNvSpPr txBox="true"/>
            <p:nvPr/>
          </p:nvSpPr>
          <p:spPr>
            <a:xfrm rot="0">
              <a:off x="554627" y="1420579"/>
              <a:ext cx="14569936" cy="1828317"/>
            </a:xfrm>
            <a:prstGeom prst="rect">
              <a:avLst/>
            </a:prstGeom>
          </p:spPr>
          <p:txBody>
            <a:bodyPr anchor="t" rtlCol="false" tIns="0" lIns="0" bIns="0" rIns="0">
              <a:spAutoFit/>
            </a:bodyPr>
            <a:lstStyle/>
            <a:p>
              <a:pPr algn="l">
                <a:lnSpc>
                  <a:spcPts val="9873"/>
                </a:lnSpc>
              </a:pPr>
              <a:r>
                <a:rPr lang="en-US" sz="10074" spc="-6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Model Performance</a:t>
              </a:r>
            </a:p>
          </p:txBody>
        </p:sp>
        <p:grpSp>
          <p:nvGrpSpPr>
            <p:cNvPr name="Group 4" id="4"/>
            <p:cNvGrpSpPr/>
            <p:nvPr/>
          </p:nvGrpSpPr>
          <p:grpSpPr>
            <a:xfrm rot="0">
              <a:off x="0" y="0"/>
              <a:ext cx="115818" cy="2797368"/>
              <a:chOff x="0" y="0"/>
              <a:chExt cx="22252" cy="537460"/>
            </a:xfrm>
          </p:grpSpPr>
          <p:sp>
            <p:nvSpPr>
              <p:cNvPr name="Freeform 5" id="5"/>
              <p:cNvSpPr/>
              <p:nvPr/>
            </p:nvSpPr>
            <p:spPr>
              <a:xfrm flipH="false" flipV="false" rot="0">
                <a:off x="0" y="0"/>
                <a:ext cx="22252" cy="537460"/>
              </a:xfrm>
              <a:custGeom>
                <a:avLst/>
                <a:gdLst/>
                <a:ahLst/>
                <a:cxnLst/>
                <a:rect r="r" b="b" t="t" l="l"/>
                <a:pathLst>
                  <a:path h="537460" w="22252">
                    <a:moveTo>
                      <a:pt x="0" y="0"/>
                    </a:moveTo>
                    <a:lnTo>
                      <a:pt x="22252" y="0"/>
                    </a:lnTo>
                    <a:lnTo>
                      <a:pt x="22252" y="537460"/>
                    </a:lnTo>
                    <a:lnTo>
                      <a:pt x="0" y="537460"/>
                    </a:lnTo>
                    <a:close/>
                  </a:path>
                </a:pathLst>
              </a:custGeom>
              <a:solidFill>
                <a:srgbClr val="3A58E4"/>
              </a:solidFill>
            </p:spPr>
          </p:sp>
          <p:sp>
            <p:nvSpPr>
              <p:cNvPr name="TextBox 6" id="6"/>
              <p:cNvSpPr txBox="true"/>
              <p:nvPr/>
            </p:nvSpPr>
            <p:spPr>
              <a:xfrm>
                <a:off x="0" y="-38100"/>
                <a:ext cx="22252" cy="575560"/>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7" id="7"/>
          <p:cNvGrpSpPr/>
          <p:nvPr/>
        </p:nvGrpSpPr>
        <p:grpSpPr>
          <a:xfrm rot="0">
            <a:off x="16438046" y="0"/>
            <a:ext cx="1849954" cy="1848166"/>
            <a:chOff x="0" y="0"/>
            <a:chExt cx="2466605" cy="2464222"/>
          </a:xfrm>
        </p:grpSpPr>
        <p:grpSp>
          <p:nvGrpSpPr>
            <p:cNvPr name="Group 8" id="8"/>
            <p:cNvGrpSpPr/>
            <p:nvPr/>
          </p:nvGrpSpPr>
          <p:grpSpPr>
            <a:xfrm rot="0">
              <a:off x="0" y="0"/>
              <a:ext cx="2466605" cy="2464222"/>
              <a:chOff x="0" y="0"/>
              <a:chExt cx="787566" cy="786805"/>
            </a:xfrm>
          </p:grpSpPr>
          <p:sp>
            <p:nvSpPr>
              <p:cNvPr name="Freeform 9" id="9"/>
              <p:cNvSpPr/>
              <p:nvPr/>
            </p:nvSpPr>
            <p:spPr>
              <a:xfrm flipH="false" flipV="false" rot="0">
                <a:off x="0" y="0"/>
                <a:ext cx="787566" cy="786805"/>
              </a:xfrm>
              <a:custGeom>
                <a:avLst/>
                <a:gdLst/>
                <a:ahLst/>
                <a:cxnLst/>
                <a:rect r="r" b="b" t="t" l="l"/>
                <a:pathLst>
                  <a:path h="786805" w="787566">
                    <a:moveTo>
                      <a:pt x="0" y="0"/>
                    </a:moveTo>
                    <a:lnTo>
                      <a:pt x="787566" y="0"/>
                    </a:lnTo>
                    <a:lnTo>
                      <a:pt x="787566" y="786805"/>
                    </a:lnTo>
                    <a:lnTo>
                      <a:pt x="0" y="786805"/>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0" id="10"/>
              <p:cNvSpPr txBox="true"/>
              <p:nvPr/>
            </p:nvSpPr>
            <p:spPr>
              <a:xfrm>
                <a:off x="0" y="-38100"/>
                <a:ext cx="787566" cy="824905"/>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19164" y="694049"/>
              <a:ext cx="1828278" cy="1199949"/>
            </a:xfrm>
            <a:prstGeom prst="rect">
              <a:avLst/>
            </a:prstGeom>
          </p:spPr>
          <p:txBody>
            <a:bodyPr anchor="t" rtlCol="false" tIns="0" lIns="0" bIns="0" rIns="0">
              <a:spAutoFit/>
            </a:bodyPr>
            <a:lstStyle/>
            <a:p>
              <a:pPr algn="ctr">
                <a:lnSpc>
                  <a:spcPts val="6425"/>
                </a:lnSpc>
              </a:pPr>
              <a:r>
                <a:rPr lang="en-US" sz="6557" spc="-419">
                  <a:solidFill>
                    <a:srgbClr val="FFFFFF"/>
                  </a:solidFill>
                  <a:latin typeface="Bricolage Grotesque"/>
                  <a:ea typeface="Bricolage Grotesque"/>
                  <a:cs typeface="Bricolage Grotesque"/>
                  <a:sym typeface="Bricolage Grotesque"/>
                </a:rPr>
                <a:t>05</a:t>
              </a:r>
            </a:p>
          </p:txBody>
        </p:sp>
      </p:grpSp>
      <p:graphicFrame>
        <p:nvGraphicFramePr>
          <p:cNvPr name="Object 12" id="12"/>
          <p:cNvGraphicFramePr/>
          <p:nvPr/>
        </p:nvGraphicFramePr>
        <p:xfrm>
          <a:off x="1028700" y="3307715"/>
          <a:ext cx="7586157" cy="4274588"/>
        </p:xfrm>
        <a:graphic>
          <a:graphicData uri="http://schemas.openxmlformats.org/presentationml/2006/ole">
            <p:oleObj imgW="9105900" imgH="579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13" id="13"/>
          <p:cNvSpPr txBox="true"/>
          <p:nvPr/>
        </p:nvSpPr>
        <p:spPr>
          <a:xfrm rot="0">
            <a:off x="9144000" y="3250565"/>
            <a:ext cx="8883898" cy="6493510"/>
          </a:xfrm>
          <a:prstGeom prst="rect">
            <a:avLst/>
          </a:prstGeom>
        </p:spPr>
        <p:txBody>
          <a:bodyPr anchor="t" rtlCol="false" tIns="0" lIns="0" bIns="0" rIns="0">
            <a:spAutoFit/>
          </a:bodyPr>
          <a:lstStyle/>
          <a:p>
            <a:pPr algn="just" marL="669291" indent="-334646" lvl="1">
              <a:lnSpc>
                <a:spcPts val="4340"/>
              </a:lnSpc>
              <a:buFont typeface="Arial"/>
              <a:buChar char="•"/>
            </a:pPr>
            <a:r>
              <a:rPr lang="en-US" sz="3100">
                <a:solidFill>
                  <a:srgbClr val="000000"/>
                </a:solidFill>
                <a:latin typeface="Canva Sans"/>
                <a:ea typeface="Canva Sans"/>
                <a:cs typeface="Canva Sans"/>
                <a:sym typeface="Canva Sans"/>
              </a:rPr>
              <a:t>XGBoost achieved the highest Weighted F1-score, though only marginally better than the other models.</a:t>
            </a:r>
          </a:p>
          <a:p>
            <a:pPr algn="just" marL="669291" indent="-334646" lvl="1">
              <a:lnSpc>
                <a:spcPts val="4340"/>
              </a:lnSpc>
              <a:buFont typeface="Arial"/>
              <a:buChar char="•"/>
            </a:pPr>
            <a:r>
              <a:rPr lang="en-US" sz="3100">
                <a:solidFill>
                  <a:srgbClr val="000000"/>
                </a:solidFill>
                <a:latin typeface="Canva Sans"/>
                <a:ea typeface="Canva Sans"/>
                <a:cs typeface="Canva Sans"/>
                <a:sym typeface="Canva Sans"/>
              </a:rPr>
              <a:t>Similar performance across all models suggests that financial status is inherently difficult to predict and influenced by multiple overlapping factors.</a:t>
            </a:r>
          </a:p>
          <a:p>
            <a:pPr algn="just" marL="669291" indent="-334646" lvl="1">
              <a:lnSpc>
                <a:spcPts val="4340"/>
              </a:lnSpc>
              <a:buFont typeface="Arial"/>
              <a:buChar char="•"/>
            </a:pPr>
            <a:r>
              <a:rPr lang="en-US" sz="3100">
                <a:solidFill>
                  <a:srgbClr val="000000"/>
                </a:solidFill>
                <a:latin typeface="Canva Sans"/>
                <a:ea typeface="Canva Sans"/>
                <a:cs typeface="Canva Sans"/>
                <a:sym typeface="Canva Sans"/>
              </a:rPr>
              <a:t>The findings reinforce the importance of financial resilience variables, which showed stronger predictive value than demographic or financial access factors.</a:t>
            </a:r>
          </a:p>
          <a:p>
            <a:pPr algn="just">
              <a:lnSpc>
                <a:spcPts val="434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18578" y="383912"/>
            <a:ext cx="11343423" cy="2436673"/>
            <a:chOff x="0" y="0"/>
            <a:chExt cx="15124564" cy="3248897"/>
          </a:xfrm>
        </p:grpSpPr>
        <p:sp>
          <p:nvSpPr>
            <p:cNvPr name="TextBox 3" id="3"/>
            <p:cNvSpPr txBox="true"/>
            <p:nvPr/>
          </p:nvSpPr>
          <p:spPr>
            <a:xfrm rot="0">
              <a:off x="554627" y="1420579"/>
              <a:ext cx="14569936" cy="1828317"/>
            </a:xfrm>
            <a:prstGeom prst="rect">
              <a:avLst/>
            </a:prstGeom>
          </p:spPr>
          <p:txBody>
            <a:bodyPr anchor="t" rtlCol="false" tIns="0" lIns="0" bIns="0" rIns="0">
              <a:spAutoFit/>
            </a:bodyPr>
            <a:lstStyle/>
            <a:p>
              <a:pPr algn="l">
                <a:lnSpc>
                  <a:spcPts val="9873"/>
                </a:lnSpc>
              </a:pPr>
              <a:r>
                <a:rPr lang="en-US" sz="10074" spc="-6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Key Drivers</a:t>
              </a:r>
            </a:p>
          </p:txBody>
        </p:sp>
        <p:grpSp>
          <p:nvGrpSpPr>
            <p:cNvPr name="Group 4" id="4"/>
            <p:cNvGrpSpPr/>
            <p:nvPr/>
          </p:nvGrpSpPr>
          <p:grpSpPr>
            <a:xfrm rot="0">
              <a:off x="0" y="0"/>
              <a:ext cx="115818" cy="2797368"/>
              <a:chOff x="0" y="0"/>
              <a:chExt cx="22252" cy="537460"/>
            </a:xfrm>
          </p:grpSpPr>
          <p:sp>
            <p:nvSpPr>
              <p:cNvPr name="Freeform 5" id="5"/>
              <p:cNvSpPr/>
              <p:nvPr/>
            </p:nvSpPr>
            <p:spPr>
              <a:xfrm flipH="false" flipV="false" rot="0">
                <a:off x="0" y="0"/>
                <a:ext cx="22252" cy="537460"/>
              </a:xfrm>
              <a:custGeom>
                <a:avLst/>
                <a:gdLst/>
                <a:ahLst/>
                <a:cxnLst/>
                <a:rect r="r" b="b" t="t" l="l"/>
                <a:pathLst>
                  <a:path h="537460" w="22252">
                    <a:moveTo>
                      <a:pt x="0" y="0"/>
                    </a:moveTo>
                    <a:lnTo>
                      <a:pt x="22252" y="0"/>
                    </a:lnTo>
                    <a:lnTo>
                      <a:pt x="22252" y="537460"/>
                    </a:lnTo>
                    <a:lnTo>
                      <a:pt x="0" y="537460"/>
                    </a:lnTo>
                    <a:close/>
                  </a:path>
                </a:pathLst>
              </a:custGeom>
              <a:solidFill>
                <a:srgbClr val="3A58E4"/>
              </a:solidFill>
            </p:spPr>
          </p:sp>
          <p:sp>
            <p:nvSpPr>
              <p:cNvPr name="TextBox 6" id="6"/>
              <p:cNvSpPr txBox="true"/>
              <p:nvPr/>
            </p:nvSpPr>
            <p:spPr>
              <a:xfrm>
                <a:off x="0" y="-38100"/>
                <a:ext cx="22252" cy="575560"/>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7" id="7"/>
          <p:cNvGrpSpPr/>
          <p:nvPr/>
        </p:nvGrpSpPr>
        <p:grpSpPr>
          <a:xfrm rot="0">
            <a:off x="16438046" y="0"/>
            <a:ext cx="1849954" cy="1848166"/>
            <a:chOff x="0" y="0"/>
            <a:chExt cx="2466605" cy="2464222"/>
          </a:xfrm>
        </p:grpSpPr>
        <p:grpSp>
          <p:nvGrpSpPr>
            <p:cNvPr name="Group 8" id="8"/>
            <p:cNvGrpSpPr/>
            <p:nvPr/>
          </p:nvGrpSpPr>
          <p:grpSpPr>
            <a:xfrm rot="0">
              <a:off x="0" y="0"/>
              <a:ext cx="2466605" cy="2464222"/>
              <a:chOff x="0" y="0"/>
              <a:chExt cx="787566" cy="786805"/>
            </a:xfrm>
          </p:grpSpPr>
          <p:sp>
            <p:nvSpPr>
              <p:cNvPr name="Freeform 9" id="9"/>
              <p:cNvSpPr/>
              <p:nvPr/>
            </p:nvSpPr>
            <p:spPr>
              <a:xfrm flipH="false" flipV="false" rot="0">
                <a:off x="0" y="0"/>
                <a:ext cx="787566" cy="786805"/>
              </a:xfrm>
              <a:custGeom>
                <a:avLst/>
                <a:gdLst/>
                <a:ahLst/>
                <a:cxnLst/>
                <a:rect r="r" b="b" t="t" l="l"/>
                <a:pathLst>
                  <a:path h="786805" w="787566">
                    <a:moveTo>
                      <a:pt x="0" y="0"/>
                    </a:moveTo>
                    <a:lnTo>
                      <a:pt x="787566" y="0"/>
                    </a:lnTo>
                    <a:lnTo>
                      <a:pt x="787566" y="786805"/>
                    </a:lnTo>
                    <a:lnTo>
                      <a:pt x="0" y="786805"/>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0" id="10"/>
              <p:cNvSpPr txBox="true"/>
              <p:nvPr/>
            </p:nvSpPr>
            <p:spPr>
              <a:xfrm>
                <a:off x="0" y="-38100"/>
                <a:ext cx="787566" cy="824905"/>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19164" y="694049"/>
              <a:ext cx="1828278" cy="1199949"/>
            </a:xfrm>
            <a:prstGeom prst="rect">
              <a:avLst/>
            </a:prstGeom>
          </p:spPr>
          <p:txBody>
            <a:bodyPr anchor="t" rtlCol="false" tIns="0" lIns="0" bIns="0" rIns="0">
              <a:spAutoFit/>
            </a:bodyPr>
            <a:lstStyle/>
            <a:p>
              <a:pPr algn="ctr">
                <a:lnSpc>
                  <a:spcPts val="6425"/>
                </a:lnSpc>
              </a:pPr>
              <a:r>
                <a:rPr lang="en-US" sz="6557" spc="-419">
                  <a:solidFill>
                    <a:srgbClr val="FFFFFF"/>
                  </a:solidFill>
                  <a:latin typeface="Bricolage Grotesque"/>
                  <a:ea typeface="Bricolage Grotesque"/>
                  <a:cs typeface="Bricolage Grotesque"/>
                  <a:sym typeface="Bricolage Grotesque"/>
                </a:rPr>
                <a:t>06</a:t>
              </a:r>
            </a:p>
          </p:txBody>
        </p:sp>
      </p:grpSp>
      <p:sp>
        <p:nvSpPr>
          <p:cNvPr name="Freeform 12" id="12"/>
          <p:cNvSpPr/>
          <p:nvPr/>
        </p:nvSpPr>
        <p:spPr>
          <a:xfrm flipH="false" flipV="false" rot="0">
            <a:off x="174138" y="2820584"/>
            <a:ext cx="11343423" cy="5790141"/>
          </a:xfrm>
          <a:custGeom>
            <a:avLst/>
            <a:gdLst/>
            <a:ahLst/>
            <a:cxnLst/>
            <a:rect r="r" b="b" t="t" l="l"/>
            <a:pathLst>
              <a:path h="5790141" w="11343423">
                <a:moveTo>
                  <a:pt x="0" y="0"/>
                </a:moveTo>
                <a:lnTo>
                  <a:pt x="11343423" y="0"/>
                </a:lnTo>
                <a:lnTo>
                  <a:pt x="11343423" y="5790141"/>
                </a:lnTo>
                <a:lnTo>
                  <a:pt x="0" y="5790141"/>
                </a:lnTo>
                <a:lnTo>
                  <a:pt x="0" y="0"/>
                </a:lnTo>
                <a:close/>
              </a:path>
            </a:pathLst>
          </a:custGeom>
          <a:blipFill>
            <a:blip r:embed="rId2"/>
            <a:stretch>
              <a:fillRect l="0" t="-1354" r="0" b="-1354"/>
            </a:stretch>
          </a:blipFill>
        </p:spPr>
      </p:sp>
      <p:sp>
        <p:nvSpPr>
          <p:cNvPr name="TextBox 13" id="13"/>
          <p:cNvSpPr txBox="true"/>
          <p:nvPr/>
        </p:nvSpPr>
        <p:spPr>
          <a:xfrm rot="0">
            <a:off x="11517561" y="3107291"/>
            <a:ext cx="6333625" cy="7036435"/>
          </a:xfrm>
          <a:prstGeom prst="rect">
            <a:avLst/>
          </a:prstGeom>
        </p:spPr>
        <p:txBody>
          <a:bodyPr anchor="t" rtlCol="false" tIns="0" lIns="0" bIns="0" rIns="0">
            <a:spAutoFit/>
          </a:bodyPr>
          <a:lstStyle/>
          <a:p>
            <a:pPr algn="just">
              <a:lnSpc>
                <a:spcPts val="4340"/>
              </a:lnSpc>
            </a:pPr>
            <a:r>
              <a:rPr lang="en-US" sz="3100">
                <a:solidFill>
                  <a:srgbClr val="000000"/>
                </a:solidFill>
                <a:latin typeface="Canva Sans"/>
                <a:ea typeface="Canva Sans"/>
                <a:cs typeface="Canva Sans"/>
                <a:sym typeface="Canva Sans"/>
              </a:rPr>
              <a:t>The most influential predictor was the resilience score, followed by demographic factors such as marital status, education level, and age. Financial access score exhibited lower importance than resilience score, supporting earlier EDA findings that financial resilience may play a larger role in determining financial outcomes than access to financial services alone.</a:t>
            </a:r>
          </a:p>
          <a:p>
            <a:pPr algn="just">
              <a:lnSpc>
                <a:spcPts val="434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019845" y="0"/>
            <a:ext cx="268155" cy="7173190"/>
            <a:chOff x="0" y="0"/>
            <a:chExt cx="70625" cy="1889235"/>
          </a:xfrm>
        </p:grpSpPr>
        <p:sp>
          <p:nvSpPr>
            <p:cNvPr name="Freeform 3" id="3"/>
            <p:cNvSpPr/>
            <p:nvPr/>
          </p:nvSpPr>
          <p:spPr>
            <a:xfrm flipH="false" flipV="false" rot="0">
              <a:off x="0" y="0"/>
              <a:ext cx="70625" cy="1889235"/>
            </a:xfrm>
            <a:custGeom>
              <a:avLst/>
              <a:gdLst/>
              <a:ahLst/>
              <a:cxnLst/>
              <a:rect r="r" b="b" t="t" l="l"/>
              <a:pathLst>
                <a:path h="1889235" w="70625">
                  <a:moveTo>
                    <a:pt x="0" y="0"/>
                  </a:moveTo>
                  <a:lnTo>
                    <a:pt x="70625" y="0"/>
                  </a:lnTo>
                  <a:lnTo>
                    <a:pt x="70625" y="1889235"/>
                  </a:lnTo>
                  <a:lnTo>
                    <a:pt x="0" y="1889235"/>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70625" cy="1927335"/>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5971735" y="3138025"/>
            <a:ext cx="0" cy="7173190"/>
          </a:xfrm>
          <a:prstGeom prst="line">
            <a:avLst/>
          </a:prstGeom>
          <a:ln cap="rnd" w="19050">
            <a:solidFill>
              <a:srgbClr val="3A58E4"/>
            </a:solidFill>
            <a:prstDash val="solid"/>
            <a:headEnd type="none" len="sm" w="sm"/>
            <a:tailEnd type="none" len="sm" w="sm"/>
          </a:ln>
        </p:spPr>
      </p:sp>
      <p:sp>
        <p:nvSpPr>
          <p:cNvPr name="AutoShape 6" id="6"/>
          <p:cNvSpPr/>
          <p:nvPr/>
        </p:nvSpPr>
        <p:spPr>
          <a:xfrm>
            <a:off x="11947848" y="3113810"/>
            <a:ext cx="0" cy="7163665"/>
          </a:xfrm>
          <a:prstGeom prst="line">
            <a:avLst/>
          </a:prstGeom>
          <a:ln cap="rnd" w="19050">
            <a:solidFill>
              <a:srgbClr val="3A58E4"/>
            </a:solidFill>
            <a:prstDash val="solid"/>
            <a:headEnd type="none" len="sm" w="sm"/>
            <a:tailEnd type="none" len="sm" w="sm"/>
          </a:ln>
        </p:spPr>
      </p:sp>
      <p:sp>
        <p:nvSpPr>
          <p:cNvPr name="AutoShape 7" id="7"/>
          <p:cNvSpPr/>
          <p:nvPr/>
        </p:nvSpPr>
        <p:spPr>
          <a:xfrm>
            <a:off x="-268155" y="3113810"/>
            <a:ext cx="18288000" cy="0"/>
          </a:xfrm>
          <a:prstGeom prst="line">
            <a:avLst/>
          </a:prstGeom>
          <a:ln cap="rnd" w="19050">
            <a:solidFill>
              <a:srgbClr val="3A58E4"/>
            </a:solidFill>
            <a:prstDash val="solid"/>
            <a:headEnd type="none" len="sm" w="sm"/>
            <a:tailEnd type="none" len="sm" w="sm"/>
          </a:ln>
        </p:spPr>
      </p:sp>
      <p:grpSp>
        <p:nvGrpSpPr>
          <p:cNvPr name="Group 8" id="8"/>
          <p:cNvGrpSpPr/>
          <p:nvPr/>
        </p:nvGrpSpPr>
        <p:grpSpPr>
          <a:xfrm rot="0">
            <a:off x="16305" y="3138025"/>
            <a:ext cx="1197405" cy="1196248"/>
            <a:chOff x="0" y="0"/>
            <a:chExt cx="1596540" cy="1594997"/>
          </a:xfrm>
        </p:grpSpPr>
        <p:grpSp>
          <p:nvGrpSpPr>
            <p:cNvPr name="Group 9" id="9"/>
            <p:cNvGrpSpPr/>
            <p:nvPr/>
          </p:nvGrpSpPr>
          <p:grpSpPr>
            <a:xfrm rot="0">
              <a:off x="0" y="0"/>
              <a:ext cx="1596540" cy="1594997"/>
              <a:chOff x="0" y="0"/>
              <a:chExt cx="787566" cy="786805"/>
            </a:xfrm>
          </p:grpSpPr>
          <p:sp>
            <p:nvSpPr>
              <p:cNvPr name="Freeform 10" id="10"/>
              <p:cNvSpPr/>
              <p:nvPr/>
            </p:nvSpPr>
            <p:spPr>
              <a:xfrm flipH="false" flipV="false" rot="0">
                <a:off x="0" y="0"/>
                <a:ext cx="787566" cy="786805"/>
              </a:xfrm>
              <a:custGeom>
                <a:avLst/>
                <a:gdLst/>
                <a:ahLst/>
                <a:cxnLst/>
                <a:rect r="r" b="b" t="t" l="l"/>
                <a:pathLst>
                  <a:path h="786805" w="787566">
                    <a:moveTo>
                      <a:pt x="0" y="0"/>
                    </a:moveTo>
                    <a:lnTo>
                      <a:pt x="787566" y="0"/>
                    </a:lnTo>
                    <a:lnTo>
                      <a:pt x="787566" y="786805"/>
                    </a:lnTo>
                    <a:lnTo>
                      <a:pt x="0" y="786805"/>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1" id="11"/>
              <p:cNvSpPr txBox="true"/>
              <p:nvPr/>
            </p:nvSpPr>
            <p:spPr>
              <a:xfrm>
                <a:off x="0" y="-38100"/>
                <a:ext cx="787566" cy="824905"/>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206583" y="454809"/>
              <a:ext cx="1183375" cy="771104"/>
            </a:xfrm>
            <a:prstGeom prst="rect">
              <a:avLst/>
            </a:prstGeom>
          </p:spPr>
          <p:txBody>
            <a:bodyPr anchor="t" rtlCol="false" tIns="0" lIns="0" bIns="0" rIns="0">
              <a:spAutoFit/>
            </a:bodyPr>
            <a:lstStyle/>
            <a:p>
              <a:pPr algn="ctr">
                <a:lnSpc>
                  <a:spcPts val="4159"/>
                </a:lnSpc>
              </a:pPr>
              <a:r>
                <a:rPr lang="en-US" sz="4244" spc="-271">
                  <a:solidFill>
                    <a:srgbClr val="FFFFFF"/>
                  </a:solidFill>
                  <a:latin typeface="Bricolage Grotesque"/>
                  <a:ea typeface="Bricolage Grotesque"/>
                  <a:cs typeface="Bricolage Grotesque"/>
                  <a:sym typeface="Bricolage Grotesque"/>
                </a:rPr>
                <a:t>01</a:t>
              </a:r>
            </a:p>
          </p:txBody>
        </p:sp>
      </p:grpSp>
      <p:grpSp>
        <p:nvGrpSpPr>
          <p:cNvPr name="Group 13" id="13"/>
          <p:cNvGrpSpPr/>
          <p:nvPr/>
        </p:nvGrpSpPr>
        <p:grpSpPr>
          <a:xfrm rot="0">
            <a:off x="5977314" y="3113810"/>
            <a:ext cx="1197405" cy="1196248"/>
            <a:chOff x="0" y="0"/>
            <a:chExt cx="1596540" cy="1594997"/>
          </a:xfrm>
        </p:grpSpPr>
        <p:grpSp>
          <p:nvGrpSpPr>
            <p:cNvPr name="Group 14" id="14"/>
            <p:cNvGrpSpPr/>
            <p:nvPr/>
          </p:nvGrpSpPr>
          <p:grpSpPr>
            <a:xfrm rot="0">
              <a:off x="0" y="0"/>
              <a:ext cx="1596540" cy="1594997"/>
              <a:chOff x="0" y="0"/>
              <a:chExt cx="787566" cy="786805"/>
            </a:xfrm>
          </p:grpSpPr>
          <p:sp>
            <p:nvSpPr>
              <p:cNvPr name="Freeform 15" id="15"/>
              <p:cNvSpPr/>
              <p:nvPr/>
            </p:nvSpPr>
            <p:spPr>
              <a:xfrm flipH="false" flipV="false" rot="0">
                <a:off x="0" y="0"/>
                <a:ext cx="787566" cy="786805"/>
              </a:xfrm>
              <a:custGeom>
                <a:avLst/>
                <a:gdLst/>
                <a:ahLst/>
                <a:cxnLst/>
                <a:rect r="r" b="b" t="t" l="l"/>
                <a:pathLst>
                  <a:path h="786805" w="787566">
                    <a:moveTo>
                      <a:pt x="0" y="0"/>
                    </a:moveTo>
                    <a:lnTo>
                      <a:pt x="787566" y="0"/>
                    </a:lnTo>
                    <a:lnTo>
                      <a:pt x="787566" y="786805"/>
                    </a:lnTo>
                    <a:lnTo>
                      <a:pt x="0" y="786805"/>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6" id="16"/>
              <p:cNvSpPr txBox="true"/>
              <p:nvPr/>
            </p:nvSpPr>
            <p:spPr>
              <a:xfrm>
                <a:off x="0" y="-38100"/>
                <a:ext cx="787566" cy="824905"/>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206583" y="454809"/>
              <a:ext cx="1183375" cy="771104"/>
            </a:xfrm>
            <a:prstGeom prst="rect">
              <a:avLst/>
            </a:prstGeom>
          </p:spPr>
          <p:txBody>
            <a:bodyPr anchor="t" rtlCol="false" tIns="0" lIns="0" bIns="0" rIns="0">
              <a:spAutoFit/>
            </a:bodyPr>
            <a:lstStyle/>
            <a:p>
              <a:pPr algn="ctr">
                <a:lnSpc>
                  <a:spcPts val="4159"/>
                </a:lnSpc>
              </a:pPr>
              <a:r>
                <a:rPr lang="en-US" sz="4244" spc="-271">
                  <a:solidFill>
                    <a:srgbClr val="FFFFFF"/>
                  </a:solidFill>
                  <a:latin typeface="Bricolage Grotesque"/>
                  <a:ea typeface="Bricolage Grotesque"/>
                  <a:cs typeface="Bricolage Grotesque"/>
                  <a:sym typeface="Bricolage Grotesque"/>
                </a:rPr>
                <a:t>02</a:t>
              </a:r>
            </a:p>
          </p:txBody>
        </p:sp>
      </p:grpSp>
      <p:grpSp>
        <p:nvGrpSpPr>
          <p:cNvPr name="Group 18" id="18"/>
          <p:cNvGrpSpPr/>
          <p:nvPr/>
        </p:nvGrpSpPr>
        <p:grpSpPr>
          <a:xfrm rot="0">
            <a:off x="11947848" y="3113810"/>
            <a:ext cx="1197405" cy="1196248"/>
            <a:chOff x="0" y="0"/>
            <a:chExt cx="1596540" cy="1594997"/>
          </a:xfrm>
        </p:grpSpPr>
        <p:grpSp>
          <p:nvGrpSpPr>
            <p:cNvPr name="Group 19" id="19"/>
            <p:cNvGrpSpPr/>
            <p:nvPr/>
          </p:nvGrpSpPr>
          <p:grpSpPr>
            <a:xfrm rot="0">
              <a:off x="0" y="0"/>
              <a:ext cx="1596540" cy="1594997"/>
              <a:chOff x="0" y="0"/>
              <a:chExt cx="787566" cy="786805"/>
            </a:xfrm>
          </p:grpSpPr>
          <p:sp>
            <p:nvSpPr>
              <p:cNvPr name="Freeform 20" id="20"/>
              <p:cNvSpPr/>
              <p:nvPr/>
            </p:nvSpPr>
            <p:spPr>
              <a:xfrm flipH="false" flipV="false" rot="0">
                <a:off x="0" y="0"/>
                <a:ext cx="787566" cy="786805"/>
              </a:xfrm>
              <a:custGeom>
                <a:avLst/>
                <a:gdLst/>
                <a:ahLst/>
                <a:cxnLst/>
                <a:rect r="r" b="b" t="t" l="l"/>
                <a:pathLst>
                  <a:path h="786805" w="787566">
                    <a:moveTo>
                      <a:pt x="0" y="0"/>
                    </a:moveTo>
                    <a:lnTo>
                      <a:pt x="787566" y="0"/>
                    </a:lnTo>
                    <a:lnTo>
                      <a:pt x="787566" y="786805"/>
                    </a:lnTo>
                    <a:lnTo>
                      <a:pt x="0" y="786805"/>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1" id="21"/>
              <p:cNvSpPr txBox="true"/>
              <p:nvPr/>
            </p:nvSpPr>
            <p:spPr>
              <a:xfrm>
                <a:off x="0" y="-38100"/>
                <a:ext cx="787566" cy="824905"/>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206583" y="454809"/>
              <a:ext cx="1183375" cy="771104"/>
            </a:xfrm>
            <a:prstGeom prst="rect">
              <a:avLst/>
            </a:prstGeom>
          </p:spPr>
          <p:txBody>
            <a:bodyPr anchor="t" rtlCol="false" tIns="0" lIns="0" bIns="0" rIns="0">
              <a:spAutoFit/>
            </a:bodyPr>
            <a:lstStyle/>
            <a:p>
              <a:pPr algn="ctr">
                <a:lnSpc>
                  <a:spcPts val="4159"/>
                </a:lnSpc>
              </a:pPr>
              <a:r>
                <a:rPr lang="en-US" sz="4244" spc="-271">
                  <a:solidFill>
                    <a:srgbClr val="FFFFFF"/>
                  </a:solidFill>
                  <a:latin typeface="Bricolage Grotesque"/>
                  <a:ea typeface="Bricolage Grotesque"/>
                  <a:cs typeface="Bricolage Grotesque"/>
                  <a:sym typeface="Bricolage Grotesque"/>
                </a:rPr>
                <a:t>03</a:t>
              </a:r>
            </a:p>
          </p:txBody>
        </p:sp>
      </p:grpSp>
      <p:sp>
        <p:nvSpPr>
          <p:cNvPr name="Freeform 23" id="23"/>
          <p:cNvSpPr/>
          <p:nvPr/>
        </p:nvSpPr>
        <p:spPr>
          <a:xfrm flipH="false" flipV="false" rot="0">
            <a:off x="15126453" y="4310058"/>
            <a:ext cx="921977" cy="757697"/>
          </a:xfrm>
          <a:custGeom>
            <a:avLst/>
            <a:gdLst/>
            <a:ahLst/>
            <a:cxnLst/>
            <a:rect r="r" b="b" t="t" l="l"/>
            <a:pathLst>
              <a:path h="757697" w="921977">
                <a:moveTo>
                  <a:pt x="0" y="0"/>
                </a:moveTo>
                <a:lnTo>
                  <a:pt x="921977" y="0"/>
                </a:lnTo>
                <a:lnTo>
                  <a:pt x="921977" y="757698"/>
                </a:lnTo>
                <a:lnTo>
                  <a:pt x="0" y="757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0">
            <a:off x="3022696" y="4178233"/>
            <a:ext cx="977364" cy="586418"/>
          </a:xfrm>
          <a:custGeom>
            <a:avLst/>
            <a:gdLst/>
            <a:ahLst/>
            <a:cxnLst/>
            <a:rect r="r" b="b" t="t" l="l"/>
            <a:pathLst>
              <a:path h="586418" w="977364">
                <a:moveTo>
                  <a:pt x="0" y="0"/>
                </a:moveTo>
                <a:lnTo>
                  <a:pt x="977364" y="0"/>
                </a:lnTo>
                <a:lnTo>
                  <a:pt x="977364" y="586418"/>
                </a:lnTo>
                <a:lnTo>
                  <a:pt x="0" y="5864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5" id="25"/>
          <p:cNvGrpSpPr/>
          <p:nvPr/>
        </p:nvGrpSpPr>
        <p:grpSpPr>
          <a:xfrm rot="0">
            <a:off x="942664" y="331797"/>
            <a:ext cx="22757" cy="975106"/>
            <a:chOff x="0" y="0"/>
            <a:chExt cx="12543" cy="537460"/>
          </a:xfrm>
        </p:grpSpPr>
        <p:sp>
          <p:nvSpPr>
            <p:cNvPr name="Freeform 26" id="26"/>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27" id="27"/>
            <p:cNvSpPr txBox="true"/>
            <p:nvPr/>
          </p:nvSpPr>
          <p:spPr>
            <a:xfrm>
              <a:off x="0" y="-38100"/>
              <a:ext cx="12543" cy="575560"/>
            </a:xfrm>
            <a:prstGeom prst="rect">
              <a:avLst/>
            </a:prstGeom>
          </p:spPr>
          <p:txBody>
            <a:bodyPr anchor="ctr" rtlCol="false" tIns="50800" lIns="50800" bIns="50800" rIns="50800"/>
            <a:lstStyle/>
            <a:p>
              <a:pPr algn="ctr">
                <a:lnSpc>
                  <a:spcPts val="2659"/>
                </a:lnSpc>
                <a:spcBef>
                  <a:spcPct val="0"/>
                </a:spcBef>
              </a:pPr>
            </a:p>
          </p:txBody>
        </p:sp>
      </p:grpSp>
      <p:grpSp>
        <p:nvGrpSpPr>
          <p:cNvPr name="Group 28" id="28"/>
          <p:cNvGrpSpPr/>
          <p:nvPr/>
        </p:nvGrpSpPr>
        <p:grpSpPr>
          <a:xfrm rot="0">
            <a:off x="16284" y="9525"/>
            <a:ext cx="546689" cy="3113810"/>
            <a:chOff x="0" y="0"/>
            <a:chExt cx="143984" cy="820098"/>
          </a:xfrm>
        </p:grpSpPr>
        <p:sp>
          <p:nvSpPr>
            <p:cNvPr name="Freeform 29" id="29"/>
            <p:cNvSpPr/>
            <p:nvPr/>
          </p:nvSpPr>
          <p:spPr>
            <a:xfrm flipH="false" flipV="false" rot="0">
              <a:off x="0" y="0"/>
              <a:ext cx="143984" cy="820098"/>
            </a:xfrm>
            <a:custGeom>
              <a:avLst/>
              <a:gdLst/>
              <a:ahLst/>
              <a:cxnLst/>
              <a:rect r="r" b="b" t="t" l="l"/>
              <a:pathLst>
                <a:path h="820098" w="143984">
                  <a:moveTo>
                    <a:pt x="0" y="0"/>
                  </a:moveTo>
                  <a:lnTo>
                    <a:pt x="143984" y="0"/>
                  </a:lnTo>
                  <a:lnTo>
                    <a:pt x="143984" y="820098"/>
                  </a:lnTo>
                  <a:lnTo>
                    <a:pt x="0" y="820098"/>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30" id="30"/>
            <p:cNvSpPr txBox="true"/>
            <p:nvPr/>
          </p:nvSpPr>
          <p:spPr>
            <a:xfrm>
              <a:off x="0" y="-38100"/>
              <a:ext cx="143984" cy="858198"/>
            </a:xfrm>
            <a:prstGeom prst="rect">
              <a:avLst/>
            </a:prstGeom>
          </p:spPr>
          <p:txBody>
            <a:bodyPr anchor="ctr" rtlCol="false" tIns="50800" lIns="50800" bIns="50800" rIns="50800"/>
            <a:lstStyle/>
            <a:p>
              <a:pPr algn="ctr">
                <a:lnSpc>
                  <a:spcPts val="2659"/>
                </a:lnSpc>
                <a:spcBef>
                  <a:spcPct val="0"/>
                </a:spcBef>
              </a:pPr>
            </a:p>
          </p:txBody>
        </p:sp>
      </p:grpSp>
      <p:sp>
        <p:nvSpPr>
          <p:cNvPr name="Freeform 31" id="31"/>
          <p:cNvSpPr/>
          <p:nvPr/>
        </p:nvSpPr>
        <p:spPr>
          <a:xfrm flipH="false" flipV="false" rot="0">
            <a:off x="8979215" y="4178233"/>
            <a:ext cx="1154611" cy="672058"/>
          </a:xfrm>
          <a:custGeom>
            <a:avLst/>
            <a:gdLst/>
            <a:ahLst/>
            <a:cxnLst/>
            <a:rect r="r" b="b" t="t" l="l"/>
            <a:pathLst>
              <a:path h="672058" w="1154611">
                <a:moveTo>
                  <a:pt x="0" y="0"/>
                </a:moveTo>
                <a:lnTo>
                  <a:pt x="1154611" y="0"/>
                </a:lnTo>
                <a:lnTo>
                  <a:pt x="1154611" y="672058"/>
                </a:lnTo>
                <a:lnTo>
                  <a:pt x="0" y="6720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2" id="32"/>
          <p:cNvSpPr txBox="true"/>
          <p:nvPr/>
        </p:nvSpPr>
        <p:spPr>
          <a:xfrm rot="0">
            <a:off x="1028700" y="559421"/>
            <a:ext cx="4825224" cy="615109"/>
          </a:xfrm>
          <a:prstGeom prst="rect">
            <a:avLst/>
          </a:prstGeom>
        </p:spPr>
        <p:txBody>
          <a:bodyPr anchor="t" rtlCol="false" tIns="0" lIns="0" bIns="0" rIns="0">
            <a:spAutoFit/>
          </a:bodyPr>
          <a:lstStyle/>
          <a:p>
            <a:pPr algn="l">
              <a:lnSpc>
                <a:spcPts val="4588"/>
              </a:lnSpc>
            </a:pPr>
            <a:r>
              <a:rPr lang="en-US" sz="4682" spc="-299">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Recommendations</a:t>
            </a:r>
          </a:p>
        </p:txBody>
      </p:sp>
      <p:sp>
        <p:nvSpPr>
          <p:cNvPr name="TextBox 33" id="33"/>
          <p:cNvSpPr txBox="true"/>
          <p:nvPr/>
        </p:nvSpPr>
        <p:spPr>
          <a:xfrm rot="0">
            <a:off x="6320649" y="65175"/>
            <a:ext cx="10370477" cy="2743835"/>
          </a:xfrm>
          <a:prstGeom prst="rect">
            <a:avLst/>
          </a:prstGeom>
        </p:spPr>
        <p:txBody>
          <a:bodyPr anchor="t" rtlCol="false" tIns="0" lIns="0" bIns="0" rIns="0">
            <a:spAutoFit/>
          </a:bodyPr>
          <a:lstStyle/>
          <a:p>
            <a:pPr algn="just">
              <a:lnSpc>
                <a:spcPts val="3639"/>
              </a:lnSpc>
            </a:pPr>
            <a:r>
              <a:rPr lang="en-US" sz="2599" spc="-7">
                <a:solidFill>
                  <a:srgbClr val="000000"/>
                </a:solidFill>
                <a:latin typeface="Poppins"/>
                <a:ea typeface="Poppins"/>
                <a:cs typeface="Poppins"/>
                <a:sym typeface="Poppins"/>
              </a:rPr>
              <a:t>Improving financial access is important, but strengthening financial resilience appears to have a greater impact on financial wellbeing. Policies and products that help households withstand financial shocks may be more effective than access-focused interventions alone.</a:t>
            </a:r>
          </a:p>
          <a:p>
            <a:pPr algn="just">
              <a:lnSpc>
                <a:spcPts val="3639"/>
              </a:lnSpc>
            </a:pPr>
          </a:p>
        </p:txBody>
      </p:sp>
      <p:sp>
        <p:nvSpPr>
          <p:cNvPr name="TextBox 34" id="34"/>
          <p:cNvSpPr txBox="true"/>
          <p:nvPr/>
        </p:nvSpPr>
        <p:spPr>
          <a:xfrm rot="0">
            <a:off x="1657242" y="3299777"/>
            <a:ext cx="3438193" cy="406019"/>
          </a:xfrm>
          <a:prstGeom prst="rect">
            <a:avLst/>
          </a:prstGeom>
        </p:spPr>
        <p:txBody>
          <a:bodyPr anchor="t" rtlCol="false" tIns="0" lIns="0" bIns="0" rIns="0">
            <a:spAutoFit/>
          </a:bodyPr>
          <a:lstStyle/>
          <a:p>
            <a:pPr algn="ctr">
              <a:lnSpc>
                <a:spcPts val="3346"/>
              </a:lnSpc>
              <a:spcBef>
                <a:spcPct val="0"/>
              </a:spcBef>
            </a:pPr>
            <a:r>
              <a:rPr lang="en-US" b="true" sz="2390"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FOR POLICYMAKERS</a:t>
            </a:r>
          </a:p>
        </p:txBody>
      </p:sp>
      <p:sp>
        <p:nvSpPr>
          <p:cNvPr name="TextBox 35" id="35"/>
          <p:cNvSpPr txBox="true"/>
          <p:nvPr/>
        </p:nvSpPr>
        <p:spPr>
          <a:xfrm rot="0">
            <a:off x="7645390" y="3150223"/>
            <a:ext cx="3438193" cy="825119"/>
          </a:xfrm>
          <a:prstGeom prst="rect">
            <a:avLst/>
          </a:prstGeom>
        </p:spPr>
        <p:txBody>
          <a:bodyPr anchor="t" rtlCol="false" tIns="0" lIns="0" bIns="0" rIns="0">
            <a:spAutoFit/>
          </a:bodyPr>
          <a:lstStyle/>
          <a:p>
            <a:pPr algn="ctr">
              <a:lnSpc>
                <a:spcPts val="3346"/>
              </a:lnSpc>
              <a:spcBef>
                <a:spcPct val="0"/>
              </a:spcBef>
            </a:pPr>
            <a:r>
              <a:rPr lang="en-US" b="true" sz="2390"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FOR FINANCIAL INSTITUTIONS</a:t>
            </a:r>
          </a:p>
        </p:txBody>
      </p:sp>
      <p:sp>
        <p:nvSpPr>
          <p:cNvPr name="TextBox 36" id="36"/>
          <p:cNvSpPr txBox="true"/>
          <p:nvPr/>
        </p:nvSpPr>
        <p:spPr>
          <a:xfrm rot="0">
            <a:off x="13611978" y="3150223"/>
            <a:ext cx="4129333" cy="825119"/>
          </a:xfrm>
          <a:prstGeom prst="rect">
            <a:avLst/>
          </a:prstGeom>
        </p:spPr>
        <p:txBody>
          <a:bodyPr anchor="t" rtlCol="false" tIns="0" lIns="0" bIns="0" rIns="0">
            <a:spAutoFit/>
          </a:bodyPr>
          <a:lstStyle/>
          <a:p>
            <a:pPr algn="ctr">
              <a:lnSpc>
                <a:spcPts val="3346"/>
              </a:lnSpc>
              <a:spcBef>
                <a:spcPct val="0"/>
              </a:spcBef>
            </a:pPr>
            <a:r>
              <a:rPr lang="en-US" b="true" sz="2390"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FOR NGOS AND DEVELOPMENT PARTNERS</a:t>
            </a:r>
          </a:p>
        </p:txBody>
      </p:sp>
      <p:sp>
        <p:nvSpPr>
          <p:cNvPr name="TextBox 37" id="37"/>
          <p:cNvSpPr txBox="true"/>
          <p:nvPr/>
        </p:nvSpPr>
        <p:spPr>
          <a:xfrm rot="0">
            <a:off x="16305" y="5876804"/>
            <a:ext cx="5608932" cy="3302691"/>
          </a:xfrm>
          <a:prstGeom prst="rect">
            <a:avLst/>
          </a:prstGeom>
        </p:spPr>
        <p:txBody>
          <a:bodyPr anchor="t" rtlCol="false" tIns="0" lIns="0" bIns="0" rIns="0">
            <a:spAutoFit/>
          </a:bodyPr>
          <a:lstStyle/>
          <a:p>
            <a:pPr algn="just" marL="436889" indent="-218444" lvl="1">
              <a:lnSpc>
                <a:spcPts val="2630"/>
              </a:lnSpc>
              <a:buFont typeface="Arial"/>
              <a:buChar char="•"/>
            </a:pPr>
            <a:r>
              <a:rPr lang="en-US" sz="2023" spc="-6">
                <a:solidFill>
                  <a:srgbClr val="000000"/>
                </a:solidFill>
                <a:latin typeface="Poppins"/>
                <a:ea typeface="Poppins"/>
                <a:cs typeface="Poppins"/>
                <a:sym typeface="Poppins"/>
              </a:rPr>
              <a:t>Strengthen programs that help households build financial resilience and prepare for economic shocks.</a:t>
            </a:r>
          </a:p>
          <a:p>
            <a:pPr algn="just" marL="436889" indent="-218444" lvl="1">
              <a:lnSpc>
                <a:spcPts val="2630"/>
              </a:lnSpc>
              <a:buFont typeface="Arial"/>
              <a:buChar char="•"/>
            </a:pPr>
            <a:r>
              <a:rPr lang="en-US" sz="2023" spc="-6">
                <a:solidFill>
                  <a:srgbClr val="000000"/>
                </a:solidFill>
                <a:latin typeface="Poppins"/>
                <a:ea typeface="Poppins"/>
                <a:cs typeface="Poppins"/>
                <a:sym typeface="Poppins"/>
              </a:rPr>
              <a:t>Expand social protection and emergency support for financially vulnerable populations.</a:t>
            </a:r>
          </a:p>
          <a:p>
            <a:pPr algn="just" marL="436889" indent="-218444" lvl="1">
              <a:lnSpc>
                <a:spcPts val="2630"/>
              </a:lnSpc>
              <a:buFont typeface="Arial"/>
              <a:buChar char="•"/>
            </a:pPr>
            <a:r>
              <a:rPr lang="en-US" sz="2023" spc="-6">
                <a:solidFill>
                  <a:srgbClr val="000000"/>
                </a:solidFill>
                <a:latin typeface="Poppins"/>
                <a:ea typeface="Poppins"/>
                <a:cs typeface="Poppins"/>
                <a:sym typeface="Poppins"/>
              </a:rPr>
              <a:t>Combine financial education with practical tools that improve households' ability to withstand financial stress.</a:t>
            </a:r>
          </a:p>
          <a:p>
            <a:pPr algn="just">
              <a:lnSpc>
                <a:spcPts val="2630"/>
              </a:lnSpc>
            </a:pPr>
          </a:p>
        </p:txBody>
      </p:sp>
      <p:sp>
        <p:nvSpPr>
          <p:cNvPr name="TextBox 38" id="38"/>
          <p:cNvSpPr txBox="true"/>
          <p:nvPr/>
        </p:nvSpPr>
        <p:spPr>
          <a:xfrm rot="0">
            <a:off x="6155325" y="5876804"/>
            <a:ext cx="5608932" cy="2973662"/>
          </a:xfrm>
          <a:prstGeom prst="rect">
            <a:avLst/>
          </a:prstGeom>
        </p:spPr>
        <p:txBody>
          <a:bodyPr anchor="t" rtlCol="false" tIns="0" lIns="0" bIns="0" rIns="0">
            <a:spAutoFit/>
          </a:bodyPr>
          <a:lstStyle/>
          <a:p>
            <a:pPr algn="just" marL="436889" indent="-218444" lvl="1">
              <a:lnSpc>
                <a:spcPts val="2630"/>
              </a:lnSpc>
              <a:buFont typeface="Arial"/>
              <a:buChar char="•"/>
            </a:pPr>
            <a:r>
              <a:rPr lang="en-US" sz="2023" spc="-6">
                <a:solidFill>
                  <a:srgbClr val="000000"/>
                </a:solidFill>
                <a:latin typeface="Poppins"/>
                <a:ea typeface="Poppins"/>
                <a:cs typeface="Poppins"/>
                <a:sym typeface="Poppins"/>
              </a:rPr>
              <a:t>Develop affordable emergency savings products and short-term safety-net solutions.</a:t>
            </a:r>
          </a:p>
          <a:p>
            <a:pPr algn="just" marL="436889" indent="-218444" lvl="1">
              <a:lnSpc>
                <a:spcPts val="2630"/>
              </a:lnSpc>
              <a:buFont typeface="Arial"/>
              <a:buChar char="•"/>
            </a:pPr>
            <a:r>
              <a:rPr lang="en-US" sz="2023" spc="-6">
                <a:solidFill>
                  <a:srgbClr val="000000"/>
                </a:solidFill>
                <a:latin typeface="Poppins"/>
                <a:ea typeface="Poppins"/>
                <a:cs typeface="Poppins"/>
                <a:sym typeface="Poppins"/>
              </a:rPr>
              <a:t>Reduce affordability barriers that limit access to formal financial services.</a:t>
            </a:r>
          </a:p>
          <a:p>
            <a:pPr algn="just" marL="436889" indent="-218444" lvl="1">
              <a:lnSpc>
                <a:spcPts val="2630"/>
              </a:lnSpc>
              <a:buFont typeface="Arial"/>
              <a:buChar char="•"/>
            </a:pPr>
            <a:r>
              <a:rPr lang="en-US" sz="2023" spc="-6">
                <a:solidFill>
                  <a:srgbClr val="000000"/>
                </a:solidFill>
                <a:latin typeface="Poppins"/>
                <a:ea typeface="Poppins"/>
                <a:cs typeface="Poppins"/>
                <a:sym typeface="Poppins"/>
              </a:rPr>
              <a:t>Design products that help customers build financial buffers rather than focusing solely on access.</a:t>
            </a:r>
          </a:p>
          <a:p>
            <a:pPr algn="just">
              <a:lnSpc>
                <a:spcPts val="2630"/>
              </a:lnSpc>
            </a:pPr>
          </a:p>
        </p:txBody>
      </p:sp>
      <p:sp>
        <p:nvSpPr>
          <p:cNvPr name="TextBox 39" id="39"/>
          <p:cNvSpPr txBox="true"/>
          <p:nvPr/>
        </p:nvSpPr>
        <p:spPr>
          <a:xfrm rot="0">
            <a:off x="12128823" y="5876804"/>
            <a:ext cx="5608932" cy="2973662"/>
          </a:xfrm>
          <a:prstGeom prst="rect">
            <a:avLst/>
          </a:prstGeom>
        </p:spPr>
        <p:txBody>
          <a:bodyPr anchor="t" rtlCol="false" tIns="0" lIns="0" bIns="0" rIns="0">
            <a:spAutoFit/>
          </a:bodyPr>
          <a:lstStyle/>
          <a:p>
            <a:pPr algn="just" marL="436889" indent="-218444" lvl="1">
              <a:lnSpc>
                <a:spcPts val="2630"/>
              </a:lnSpc>
              <a:buFont typeface="Arial"/>
              <a:buChar char="•"/>
            </a:pPr>
            <a:r>
              <a:rPr lang="en-US" sz="2023" spc="-6">
                <a:solidFill>
                  <a:srgbClr val="000000"/>
                </a:solidFill>
                <a:latin typeface="Poppins"/>
                <a:ea typeface="Poppins"/>
                <a:cs typeface="Poppins"/>
                <a:sym typeface="Poppins"/>
              </a:rPr>
              <a:t>Support programs that improve households' ability to cope with unexpected expenses and income shocks.</a:t>
            </a:r>
          </a:p>
          <a:p>
            <a:pPr algn="just" marL="436889" indent="-218444" lvl="1">
              <a:lnSpc>
                <a:spcPts val="2630"/>
              </a:lnSpc>
              <a:buFont typeface="Arial"/>
              <a:buChar char="•"/>
            </a:pPr>
            <a:r>
              <a:rPr lang="en-US" sz="2023" spc="-6">
                <a:solidFill>
                  <a:srgbClr val="000000"/>
                </a:solidFill>
                <a:latin typeface="Poppins"/>
                <a:ea typeface="Poppins"/>
                <a:cs typeface="Poppins"/>
                <a:sym typeface="Poppins"/>
              </a:rPr>
              <a:t>Target interventions toward financially vulnerable groups identified in the analysis, including lower-income and less-educated households.</a:t>
            </a:r>
          </a:p>
          <a:p>
            <a:pPr algn="just">
              <a:lnSpc>
                <a:spcPts val="2630"/>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DAHMtNU1RZY</dc:identifier>
  <dcterms:modified xsi:type="dcterms:W3CDTF">2011-08-01T06:04:30Z</dcterms:modified>
  <cp:revision>1</cp:revision>
  <dc:title>DataSprint2026_3Muskateers</dc:title>
</cp:coreProperties>
</file>